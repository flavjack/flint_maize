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2" r:id="rId5"/>
    <p:sldId id="281" r:id="rId6"/>
    <p:sldId id="282" r:id="rId7"/>
    <p:sldId id="273" r:id="rId8"/>
    <p:sldId id="284" r:id="rId9"/>
    <p:sldId id="274" r:id="rId10"/>
    <p:sldId id="275" r:id="rId11"/>
    <p:sldId id="283" r:id="rId12"/>
    <p:sldId id="259" r:id="rId13"/>
    <p:sldId id="271" r:id="rId14"/>
    <p:sldId id="279" r:id="rId15"/>
    <p:sldId id="261" r:id="rId16"/>
    <p:sldId id="276" r:id="rId17"/>
    <p:sldId id="277" r:id="rId18"/>
    <p:sldId id="285" r:id="rId19"/>
    <p:sldId id="263" r:id="rId20"/>
    <p:sldId id="264" r:id="rId21"/>
    <p:sldId id="265" r:id="rId22"/>
    <p:sldId id="270" r:id="rId2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61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53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597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52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977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56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6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76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836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42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951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08B547-7084-40A6-BF78-2BBE6B4F4E8F}" type="datetimeFigureOut">
              <a:rPr lang="en-US" smtClean="0"/>
              <a:t>10/8/2022</a:t>
            </a:fld>
            <a:endParaRPr lang="en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6035B-292A-41F0-9320-06C2FECA769C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845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12" Type="http://schemas.openxmlformats.org/officeDocument/2006/relationships/image" Target="../media/image19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11" Type="http://schemas.openxmlformats.org/officeDocument/2006/relationships/image" Target="../media/image18.jpeg"/><Relationship Id="rId5" Type="http://schemas.openxmlformats.org/officeDocument/2006/relationships/image" Target="../media/image12.jpeg"/><Relationship Id="rId10" Type="http://schemas.openxmlformats.org/officeDocument/2006/relationships/image" Target="../media/image17.jpeg"/><Relationship Id="rId4" Type="http://schemas.openxmlformats.org/officeDocument/2006/relationships/image" Target="../media/image11.jpeg"/><Relationship Id="rId9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CRITERIOS MORFOLÓGICOS, ECOLÓGICOS Y CULTURALES PARA DEFINIR LAS RAZAS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4000" dirty="0"/>
              <a:t>Ricardo </a:t>
            </a:r>
            <a:r>
              <a:rPr lang="en-US" sz="4000" dirty="0" err="1"/>
              <a:t>Sevilla</a:t>
            </a:r>
            <a:endParaRPr lang="en-US" sz="4000" dirty="0"/>
          </a:p>
          <a:p>
            <a:r>
              <a:rPr lang="en-US" sz="4000" dirty="0"/>
              <a:t>UNA La Molina</a:t>
            </a:r>
          </a:p>
          <a:p>
            <a:r>
              <a:rPr lang="en-US" sz="4000" dirty="0" err="1"/>
              <a:t>Febrero</a:t>
            </a:r>
            <a:r>
              <a:rPr lang="en-US" sz="4000" dirty="0"/>
              <a:t> 2016</a:t>
            </a:r>
          </a:p>
        </p:txBody>
      </p:sp>
    </p:spTree>
    <p:extLst>
      <p:ext uri="{BB962C8B-B14F-4D97-AF65-F5344CB8AC3E}">
        <p14:creationId xmlns:p14="http://schemas.microsoft.com/office/powerpoint/2010/main" val="420058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EL CONCEPTO RACIAL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Grupo</a:t>
            </a:r>
            <a:r>
              <a:rPr lang="en-US" dirty="0"/>
              <a:t> de </a:t>
            </a:r>
            <a:r>
              <a:rPr lang="en-US" dirty="0" err="1"/>
              <a:t>poblaciones</a:t>
            </a:r>
            <a:r>
              <a:rPr lang="en-US" dirty="0"/>
              <a:t> </a:t>
            </a:r>
            <a:r>
              <a:rPr lang="en-US" dirty="0" err="1"/>
              <a:t>similares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morfología</a:t>
            </a:r>
            <a:r>
              <a:rPr lang="en-US" dirty="0"/>
              <a:t>, </a:t>
            </a:r>
            <a:r>
              <a:rPr lang="en-US" dirty="0" err="1"/>
              <a:t>adaptación</a:t>
            </a:r>
            <a:r>
              <a:rPr lang="en-US" dirty="0"/>
              <a:t>, </a:t>
            </a:r>
            <a:r>
              <a:rPr lang="en-US" dirty="0" err="1"/>
              <a:t>usos</a:t>
            </a:r>
            <a:r>
              <a:rPr lang="en-US" dirty="0"/>
              <a:t> y </a:t>
            </a:r>
            <a:r>
              <a:rPr lang="en-US" dirty="0" err="1"/>
              <a:t>costumbres</a:t>
            </a:r>
            <a:r>
              <a:rPr lang="en-US" dirty="0"/>
              <a:t>.</a:t>
            </a:r>
          </a:p>
          <a:p>
            <a:r>
              <a:rPr lang="en-US" dirty="0"/>
              <a:t>La </a:t>
            </a:r>
            <a:r>
              <a:rPr lang="en-US" dirty="0" err="1"/>
              <a:t>clasificación</a:t>
            </a:r>
            <a:r>
              <a:rPr lang="en-US" dirty="0"/>
              <a:t> racial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cerrada</a:t>
            </a:r>
            <a:r>
              <a:rPr lang="en-US" dirty="0"/>
              <a:t>: El </a:t>
            </a:r>
            <a:r>
              <a:rPr lang="en-US" dirty="0" err="1"/>
              <a:t>conjunto</a:t>
            </a:r>
            <a:r>
              <a:rPr lang="en-US" dirty="0"/>
              <a:t> de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razas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toda</a:t>
            </a:r>
            <a:r>
              <a:rPr lang="en-US" dirty="0"/>
              <a:t> la </a:t>
            </a:r>
            <a:r>
              <a:rPr lang="en-US" dirty="0" err="1"/>
              <a:t>diversidad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especie</a:t>
            </a:r>
            <a:r>
              <a:rPr lang="en-US" dirty="0"/>
              <a:t>.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eso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que antes de </a:t>
            </a:r>
            <a:r>
              <a:rPr lang="en-US" dirty="0" err="1"/>
              <a:t>clasificar</a:t>
            </a:r>
            <a:r>
              <a:rPr lang="en-US" dirty="0"/>
              <a:t> hay que </a:t>
            </a:r>
            <a:r>
              <a:rPr lang="en-US" dirty="0" err="1"/>
              <a:t>colectar</a:t>
            </a:r>
            <a:r>
              <a:rPr lang="en-US" dirty="0"/>
              <a:t> y </a:t>
            </a:r>
            <a:r>
              <a:rPr lang="en-US" dirty="0" err="1"/>
              <a:t>caracterizar</a:t>
            </a:r>
            <a:r>
              <a:rPr lang="en-US" dirty="0"/>
              <a:t>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variedades</a:t>
            </a:r>
            <a:r>
              <a:rPr lang="en-US" dirty="0"/>
              <a:t> </a:t>
            </a:r>
            <a:r>
              <a:rPr lang="en-US" dirty="0" err="1"/>
              <a:t>nativas</a:t>
            </a:r>
            <a:r>
              <a:rPr lang="en-US" dirty="0"/>
              <a:t>. </a:t>
            </a:r>
          </a:p>
          <a:p>
            <a:r>
              <a:rPr lang="en-US" dirty="0"/>
              <a:t>Para que la </a:t>
            </a:r>
            <a:r>
              <a:rPr lang="en-US" dirty="0" err="1"/>
              <a:t>diversidad</a:t>
            </a:r>
            <a:r>
              <a:rPr lang="en-US" dirty="0"/>
              <a:t> de </a:t>
            </a:r>
            <a:r>
              <a:rPr lang="en-US" dirty="0" err="1"/>
              <a:t>regiones</a:t>
            </a:r>
            <a:r>
              <a:rPr lang="en-US" dirty="0"/>
              <a:t> </a:t>
            </a:r>
            <a:r>
              <a:rPr lang="en-US" dirty="0" err="1"/>
              <a:t>distintas</a:t>
            </a:r>
            <a:r>
              <a:rPr lang="en-US" dirty="0"/>
              <a:t> sea comparable se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usar</a:t>
            </a:r>
            <a:r>
              <a:rPr lang="en-US" dirty="0"/>
              <a:t> la </a:t>
            </a:r>
            <a:r>
              <a:rPr lang="en-US" dirty="0" err="1"/>
              <a:t>misma</a:t>
            </a:r>
            <a:r>
              <a:rPr lang="en-US" dirty="0"/>
              <a:t> </a:t>
            </a:r>
            <a:r>
              <a:rPr lang="en-US" dirty="0" err="1"/>
              <a:t>metodología</a:t>
            </a:r>
            <a:r>
              <a:rPr lang="en-US" dirty="0"/>
              <a:t> de </a:t>
            </a:r>
            <a:r>
              <a:rPr lang="en-US" dirty="0" err="1"/>
              <a:t>colección</a:t>
            </a:r>
            <a:r>
              <a:rPr lang="en-US" dirty="0"/>
              <a:t> y </a:t>
            </a:r>
            <a:r>
              <a:rPr lang="en-US" dirty="0" err="1"/>
              <a:t>caracterización</a:t>
            </a:r>
            <a:r>
              <a:rPr lang="en-US" dirty="0"/>
              <a:t>. </a:t>
            </a:r>
          </a:p>
          <a:p>
            <a:r>
              <a:rPr lang="en-US" dirty="0"/>
              <a:t>Como la </a:t>
            </a:r>
            <a:r>
              <a:rPr lang="en-US" dirty="0" err="1"/>
              <a:t>diversidad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especie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dinámica</a:t>
            </a:r>
            <a:r>
              <a:rPr lang="en-US" dirty="0"/>
              <a:t> se </a:t>
            </a:r>
            <a:r>
              <a:rPr lang="en-US" dirty="0" err="1"/>
              <a:t>debe</a:t>
            </a:r>
            <a:r>
              <a:rPr lang="en-US" dirty="0"/>
              <a:t> </a:t>
            </a:r>
            <a:r>
              <a:rPr lang="en-US" dirty="0" err="1"/>
              <a:t>revisar</a:t>
            </a:r>
            <a:r>
              <a:rPr lang="en-US" dirty="0"/>
              <a:t> </a:t>
            </a:r>
            <a:r>
              <a:rPr lang="en-US" dirty="0" err="1"/>
              <a:t>continuamente</a:t>
            </a:r>
            <a:r>
              <a:rPr lang="en-US" dirty="0"/>
              <a:t> la </a:t>
            </a:r>
            <a:r>
              <a:rPr lang="en-US" dirty="0" err="1"/>
              <a:t>clasificación</a:t>
            </a:r>
            <a:r>
              <a:rPr lang="en-US" dirty="0"/>
              <a:t> y </a:t>
            </a:r>
            <a:r>
              <a:rPr lang="en-US" dirty="0" err="1"/>
              <a:t>ajustar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cierto</a:t>
            </a:r>
            <a:r>
              <a:rPr lang="en-US" dirty="0"/>
              <a:t> </a:t>
            </a:r>
            <a:r>
              <a:rPr lang="en-US" dirty="0" err="1"/>
              <a:t>tiempo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aproximaciones</a:t>
            </a:r>
            <a:r>
              <a:rPr lang="en-US" dirty="0"/>
              <a:t> </a:t>
            </a:r>
            <a:r>
              <a:rPr lang="en-US" dirty="0" err="1"/>
              <a:t>sucesivas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1593429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DIFRERENCIAS ENTRE POBLACIONES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ángulo 3"/>
          <p:cNvSpPr/>
          <p:nvPr/>
        </p:nvSpPr>
        <p:spPr>
          <a:xfrm>
            <a:off x="2557347" y="2294256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/>
              <a:t>Población</a:t>
            </a:r>
            <a:r>
              <a:rPr lang="en-US" sz="2400" dirty="0"/>
              <a:t> </a:t>
            </a:r>
            <a:r>
              <a:rPr lang="en-US" sz="2400" dirty="0" err="1"/>
              <a:t>es</a:t>
            </a:r>
            <a:r>
              <a:rPr lang="en-US" sz="2400" dirty="0"/>
              <a:t>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comunidad</a:t>
            </a:r>
            <a:r>
              <a:rPr lang="en-US" sz="2400" dirty="0"/>
              <a:t> de </a:t>
            </a:r>
            <a:r>
              <a:rPr lang="en-US" sz="2400" dirty="0" err="1"/>
              <a:t>individuos</a:t>
            </a:r>
            <a:r>
              <a:rPr lang="en-US" sz="2400" dirty="0"/>
              <a:t> que se </a:t>
            </a:r>
            <a:r>
              <a:rPr lang="en-US" sz="2400" dirty="0" err="1"/>
              <a:t>pueden</a:t>
            </a:r>
            <a:r>
              <a:rPr lang="en-US" sz="2400" dirty="0"/>
              <a:t> </a:t>
            </a:r>
            <a:r>
              <a:rPr lang="en-US" sz="2400" dirty="0" err="1"/>
              <a:t>cruzar</a:t>
            </a:r>
            <a:r>
              <a:rPr lang="en-US" sz="2400" dirty="0"/>
              <a:t> </a:t>
            </a:r>
            <a:r>
              <a:rPr lang="en-US" sz="2400" dirty="0" err="1"/>
              <a:t>libremente</a:t>
            </a:r>
            <a:r>
              <a:rPr lang="en-US" sz="2400" dirty="0"/>
              <a:t> con </a:t>
            </a:r>
            <a:r>
              <a:rPr lang="en-US" sz="2400" dirty="0" err="1"/>
              <a:t>cualquier</a:t>
            </a:r>
            <a:r>
              <a:rPr lang="en-US" sz="2400" dirty="0"/>
              <a:t> </a:t>
            </a:r>
            <a:r>
              <a:rPr lang="en-US" sz="2400" dirty="0" err="1"/>
              <a:t>individuo</a:t>
            </a:r>
            <a:r>
              <a:rPr lang="en-US" sz="2400" dirty="0"/>
              <a:t> de </a:t>
            </a:r>
            <a:r>
              <a:rPr lang="en-US" sz="2400" dirty="0" err="1"/>
              <a:t>sexo</a:t>
            </a:r>
            <a:r>
              <a:rPr lang="en-US" sz="2400" dirty="0"/>
              <a:t> </a:t>
            </a:r>
            <a:r>
              <a:rPr lang="en-US" sz="2400" dirty="0" err="1"/>
              <a:t>contrario</a:t>
            </a:r>
            <a:r>
              <a:rPr lang="en-US" sz="2400" dirty="0"/>
              <a:t>. </a:t>
            </a:r>
            <a:r>
              <a:rPr lang="en-US" sz="2400" dirty="0" err="1"/>
              <a:t>En</a:t>
            </a:r>
            <a:r>
              <a:rPr lang="en-US" sz="2400" dirty="0"/>
              <a:t> el </a:t>
            </a:r>
            <a:r>
              <a:rPr lang="en-US" sz="2400" dirty="0" err="1"/>
              <a:t>caso</a:t>
            </a:r>
            <a:r>
              <a:rPr lang="en-US" sz="2400" dirty="0"/>
              <a:t> del </a:t>
            </a:r>
            <a:r>
              <a:rPr lang="en-US" sz="2400" dirty="0" err="1"/>
              <a:t>maíz</a:t>
            </a:r>
            <a:r>
              <a:rPr lang="en-US" sz="2400" dirty="0"/>
              <a:t> las </a:t>
            </a:r>
            <a:r>
              <a:rPr lang="en-US" sz="2400" dirty="0" err="1"/>
              <a:t>poblaciones</a:t>
            </a:r>
            <a:r>
              <a:rPr lang="en-US" sz="2400" dirty="0"/>
              <a:t> son </a:t>
            </a:r>
            <a:r>
              <a:rPr lang="en-US" sz="2400" dirty="0" err="1"/>
              <a:t>panmíticas</a:t>
            </a:r>
            <a:r>
              <a:rPr lang="en-US" sz="2400" dirty="0"/>
              <a:t> (Hardy y Weinberg). Los </a:t>
            </a:r>
            <a:r>
              <a:rPr lang="en-US" sz="2400" dirty="0" err="1"/>
              <a:t>individuos</a:t>
            </a:r>
            <a:r>
              <a:rPr lang="en-US" sz="2400" dirty="0"/>
              <a:t> </a:t>
            </a:r>
            <a:r>
              <a:rPr lang="en-US" sz="2400" dirty="0" err="1"/>
              <a:t>difieren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alelos</a:t>
            </a:r>
            <a:r>
              <a:rPr lang="en-US" sz="2400" dirty="0"/>
              <a:t> </a:t>
            </a:r>
            <a:r>
              <a:rPr lang="en-US" sz="2400" dirty="0" err="1"/>
              <a:t>específicos</a:t>
            </a:r>
            <a:r>
              <a:rPr lang="en-US" sz="2400" dirty="0"/>
              <a:t> de </a:t>
            </a:r>
            <a:r>
              <a:rPr lang="en-US" sz="2400" dirty="0" err="1"/>
              <a:t>cada</a:t>
            </a:r>
            <a:r>
              <a:rPr lang="en-US" sz="2400" dirty="0"/>
              <a:t> gen. Si la </a:t>
            </a:r>
            <a:r>
              <a:rPr lang="en-US" sz="2400" dirty="0" err="1"/>
              <a:t>diferencia</a:t>
            </a:r>
            <a:r>
              <a:rPr lang="en-US" sz="2400" dirty="0"/>
              <a:t> se </a:t>
            </a:r>
            <a:r>
              <a:rPr lang="en-US" sz="2400" dirty="0" err="1"/>
              <a:t>debe</a:t>
            </a:r>
            <a:r>
              <a:rPr lang="en-US" sz="2400" dirty="0"/>
              <a:t> a </a:t>
            </a:r>
            <a:r>
              <a:rPr lang="en-US" sz="2400" dirty="0" err="1"/>
              <a:t>pocos</a:t>
            </a:r>
            <a:r>
              <a:rPr lang="en-US" sz="2400" dirty="0"/>
              <a:t> genes con </a:t>
            </a:r>
            <a:r>
              <a:rPr lang="en-US" sz="2400" dirty="0" err="1"/>
              <a:t>alelos</a:t>
            </a:r>
            <a:r>
              <a:rPr lang="en-US" sz="2400" dirty="0"/>
              <a:t> </a:t>
            </a:r>
            <a:r>
              <a:rPr lang="en-US" sz="2400" dirty="0" err="1"/>
              <a:t>polimórficos</a:t>
            </a:r>
            <a:r>
              <a:rPr lang="en-US" sz="2400" dirty="0"/>
              <a:t>,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individuos</a:t>
            </a:r>
            <a:r>
              <a:rPr lang="en-US" sz="2400" dirty="0"/>
              <a:t> o </a:t>
            </a:r>
            <a:r>
              <a:rPr lang="en-US" sz="2400" dirty="0" err="1"/>
              <a:t>poblaciones</a:t>
            </a:r>
            <a:r>
              <a:rPr lang="en-US" sz="2400" dirty="0"/>
              <a:t> </a:t>
            </a:r>
            <a:r>
              <a:rPr lang="en-US" sz="2400" dirty="0" err="1"/>
              <a:t>pertenecen</a:t>
            </a:r>
            <a:r>
              <a:rPr lang="en-US" sz="2400" dirty="0"/>
              <a:t> a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misma</a:t>
            </a:r>
            <a:r>
              <a:rPr lang="en-US" sz="2400" dirty="0"/>
              <a:t> </a:t>
            </a:r>
            <a:r>
              <a:rPr lang="en-US" sz="2400" dirty="0" err="1"/>
              <a:t>raza</a:t>
            </a:r>
            <a:r>
              <a:rPr lang="en-US" sz="2400" dirty="0"/>
              <a:t>. Si son </a:t>
            </a:r>
            <a:r>
              <a:rPr lang="en-US" sz="2400" dirty="0" err="1"/>
              <a:t>muchos</a:t>
            </a:r>
            <a:r>
              <a:rPr lang="en-US" sz="2400" dirty="0"/>
              <a:t> genes </a:t>
            </a:r>
            <a:r>
              <a:rPr lang="en-US" sz="2400" dirty="0" err="1"/>
              <a:t>polimórficos</a:t>
            </a:r>
            <a:r>
              <a:rPr lang="en-US" sz="2400" dirty="0"/>
              <a:t>, </a:t>
            </a:r>
            <a:r>
              <a:rPr lang="en-US" sz="2400" dirty="0" err="1"/>
              <a:t>pertenecen</a:t>
            </a:r>
            <a:r>
              <a:rPr lang="en-US" sz="2400" dirty="0"/>
              <a:t> a </a:t>
            </a:r>
            <a:r>
              <a:rPr lang="en-US" sz="2400" dirty="0" err="1"/>
              <a:t>razas</a:t>
            </a:r>
            <a:r>
              <a:rPr lang="en-US" sz="2400" dirty="0"/>
              <a:t> </a:t>
            </a:r>
            <a:r>
              <a:rPr lang="en-US" sz="2400" dirty="0" err="1"/>
              <a:t>distintas</a:t>
            </a:r>
            <a:r>
              <a:rPr lang="en-US" sz="2400" dirty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3651942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CARACTERES DIFERENCIALES DEBEN TENER ALTA HEREDABILIDAD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Heredabilidad</a:t>
            </a:r>
            <a:r>
              <a:rPr lang="en-US" dirty="0"/>
              <a:t> = </a:t>
            </a:r>
            <a:r>
              <a:rPr lang="en-US" dirty="0" err="1"/>
              <a:t>Variancia</a:t>
            </a:r>
            <a:r>
              <a:rPr lang="en-US" dirty="0"/>
              <a:t> </a:t>
            </a:r>
            <a:r>
              <a:rPr lang="en-US" dirty="0" err="1"/>
              <a:t>genética</a:t>
            </a:r>
            <a:r>
              <a:rPr lang="en-US" dirty="0"/>
              <a:t>/</a:t>
            </a:r>
            <a:r>
              <a:rPr lang="en-US" dirty="0" err="1"/>
              <a:t>Variancia</a:t>
            </a:r>
            <a:r>
              <a:rPr lang="en-US" dirty="0"/>
              <a:t> </a:t>
            </a:r>
            <a:r>
              <a:rPr lang="en-US" dirty="0" err="1"/>
              <a:t>fenotípica</a:t>
            </a:r>
            <a:r>
              <a:rPr lang="en-US" dirty="0"/>
              <a:t> </a:t>
            </a:r>
          </a:p>
          <a:p>
            <a:r>
              <a:rPr lang="en-US" dirty="0"/>
              <a:t>La </a:t>
            </a:r>
            <a:r>
              <a:rPr lang="en-US" dirty="0" err="1"/>
              <a:t>máxima</a:t>
            </a:r>
            <a:r>
              <a:rPr lang="en-US" dirty="0"/>
              <a:t> </a:t>
            </a:r>
            <a:r>
              <a:rPr lang="en-US" dirty="0" err="1"/>
              <a:t>heredabilidad</a:t>
            </a:r>
            <a:r>
              <a:rPr lang="en-US" dirty="0"/>
              <a:t>: </a:t>
            </a:r>
            <a:r>
              <a:rPr lang="en-US" dirty="0" err="1"/>
              <a:t>fenotipo</a:t>
            </a:r>
            <a:r>
              <a:rPr lang="en-US" dirty="0"/>
              <a:t> = </a:t>
            </a:r>
            <a:r>
              <a:rPr lang="en-US" dirty="0" err="1"/>
              <a:t>genotipo</a:t>
            </a:r>
            <a:endParaRPr lang="en-US" dirty="0"/>
          </a:p>
          <a:p>
            <a:r>
              <a:rPr lang="en-US" dirty="0"/>
              <a:t>Alta </a:t>
            </a:r>
            <a:r>
              <a:rPr lang="en-US" dirty="0" err="1"/>
              <a:t>heredabilidad</a:t>
            </a:r>
            <a:r>
              <a:rPr lang="en-US" dirty="0"/>
              <a:t>: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externos</a:t>
            </a:r>
            <a:r>
              <a:rPr lang="en-US" dirty="0"/>
              <a:t> del </a:t>
            </a:r>
            <a:r>
              <a:rPr lang="en-US" dirty="0" err="1"/>
              <a:t>grano</a:t>
            </a:r>
            <a:r>
              <a:rPr lang="en-US" dirty="0"/>
              <a:t>: color, </a:t>
            </a:r>
            <a:r>
              <a:rPr lang="en-US" dirty="0" err="1"/>
              <a:t>textura</a:t>
            </a:r>
            <a:r>
              <a:rPr lang="en-US" dirty="0"/>
              <a:t> del </a:t>
            </a:r>
            <a:r>
              <a:rPr lang="en-US" dirty="0" err="1"/>
              <a:t>grano</a:t>
            </a:r>
            <a:r>
              <a:rPr lang="en-US" dirty="0"/>
              <a:t>,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hileras</a:t>
            </a:r>
            <a:r>
              <a:rPr lang="en-US" dirty="0"/>
              <a:t> de la </a:t>
            </a:r>
            <a:r>
              <a:rPr lang="en-US" dirty="0" err="1"/>
              <a:t>mazorca</a:t>
            </a:r>
            <a:endParaRPr lang="en-US" dirty="0"/>
          </a:p>
          <a:p>
            <a:r>
              <a:rPr lang="en-US" dirty="0" err="1"/>
              <a:t>Heredabilidad</a:t>
            </a:r>
            <a:r>
              <a:rPr lang="en-US" dirty="0"/>
              <a:t> intermedia: largo de la </a:t>
            </a:r>
            <a:r>
              <a:rPr lang="en-US" dirty="0" err="1"/>
              <a:t>mazorca</a:t>
            </a:r>
            <a:r>
              <a:rPr lang="en-US" dirty="0"/>
              <a:t>, ancho de la </a:t>
            </a:r>
            <a:r>
              <a:rPr lang="en-US" dirty="0" err="1"/>
              <a:t>mazorca</a:t>
            </a:r>
            <a:r>
              <a:rPr lang="en-US" dirty="0"/>
              <a:t>,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granos</a:t>
            </a:r>
            <a:r>
              <a:rPr lang="en-US" dirty="0"/>
              <a:t>, </a:t>
            </a:r>
            <a:r>
              <a:rPr lang="en-US" dirty="0" err="1"/>
              <a:t>altura</a:t>
            </a:r>
            <a:r>
              <a:rPr lang="en-US" dirty="0"/>
              <a:t> de la planta, </a:t>
            </a:r>
            <a:r>
              <a:rPr lang="en-US" dirty="0" err="1"/>
              <a:t>precocidad</a:t>
            </a:r>
            <a:r>
              <a:rPr lang="en-US" dirty="0"/>
              <a:t>, Resistencia </a:t>
            </a:r>
            <a:r>
              <a:rPr lang="en-US" dirty="0" err="1"/>
              <a:t>enfermedades</a:t>
            </a:r>
            <a:r>
              <a:rPr lang="en-US" dirty="0"/>
              <a:t> </a:t>
            </a:r>
          </a:p>
          <a:p>
            <a:r>
              <a:rPr lang="en-US" dirty="0"/>
              <a:t>Baja </a:t>
            </a:r>
            <a:r>
              <a:rPr lang="en-US" dirty="0" err="1"/>
              <a:t>heredabilidad</a:t>
            </a:r>
            <a:r>
              <a:rPr lang="en-US" dirty="0"/>
              <a:t>: </a:t>
            </a:r>
            <a:r>
              <a:rPr lang="en-US" dirty="0" err="1"/>
              <a:t>rendimiento</a:t>
            </a:r>
            <a:r>
              <a:rPr lang="en-US" dirty="0"/>
              <a:t>, </a:t>
            </a:r>
            <a:r>
              <a:rPr lang="en-US" dirty="0" err="1"/>
              <a:t>tolerancia</a:t>
            </a:r>
            <a:r>
              <a:rPr lang="en-US" dirty="0"/>
              <a:t> al </a:t>
            </a:r>
            <a:r>
              <a:rPr lang="en-US" dirty="0" err="1"/>
              <a:t>frío</a:t>
            </a:r>
            <a:r>
              <a:rPr lang="en-US" dirty="0"/>
              <a:t>, </a:t>
            </a:r>
            <a:r>
              <a:rPr lang="en-US" dirty="0" err="1"/>
              <a:t>tolerancia</a:t>
            </a:r>
            <a:r>
              <a:rPr lang="en-US" dirty="0"/>
              <a:t> a la </a:t>
            </a:r>
            <a:r>
              <a:rPr lang="en-US" dirty="0" err="1"/>
              <a:t>sequía</a:t>
            </a:r>
            <a:r>
              <a:rPr lang="en-US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2750674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735" y="141668"/>
            <a:ext cx="9056314" cy="679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304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3048000" y="-76200"/>
            <a:ext cx="57912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3600">
                <a:solidFill>
                  <a:srgbClr val="000000"/>
                </a:solidFill>
                <a:latin typeface="Tahoma" panose="020B0604030504040204" pitchFamily="34" charset="0"/>
              </a:rPr>
              <a:t>Heredabilidad</a:t>
            </a:r>
            <a:endParaRPr lang="es-ES" altLang="es-MX" sz="36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905000" y="547688"/>
            <a:ext cx="3733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800">
                <a:solidFill>
                  <a:srgbClr val="000000"/>
                </a:solidFill>
                <a:latin typeface="Tahoma" panose="020B0604030504040204" pitchFamily="34" charset="0"/>
              </a:rPr>
              <a:t>Largo de la mazorca</a:t>
            </a:r>
            <a:endParaRPr lang="es-ES" altLang="es-MX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28676" name="Picture 4" descr="Foto28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79" t="20580" r="67171" b="25401"/>
          <a:stretch>
            <a:fillRect/>
          </a:stretch>
        </p:blipFill>
        <p:spPr bwMode="auto">
          <a:xfrm>
            <a:off x="2339976" y="1143000"/>
            <a:ext cx="860425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7" name="Picture 5" descr="Foto28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49" t="25723" r="53897" b="27974"/>
          <a:stretch>
            <a:fillRect/>
          </a:stretch>
        </p:blipFill>
        <p:spPr bwMode="auto">
          <a:xfrm>
            <a:off x="3733800" y="1524000"/>
            <a:ext cx="762000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79" name="Picture 7" descr="Foto28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20" t="23302" r="53040" b="24919"/>
          <a:stretch>
            <a:fillRect/>
          </a:stretch>
        </p:blipFill>
        <p:spPr bwMode="auto">
          <a:xfrm>
            <a:off x="6477000" y="762000"/>
            <a:ext cx="1049338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0" name="Picture 8" descr="Foto28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46" t="27238" r="13837" b="26160"/>
          <a:stretch>
            <a:fillRect/>
          </a:stretch>
        </p:blipFill>
        <p:spPr bwMode="auto">
          <a:xfrm>
            <a:off x="7840664" y="1524000"/>
            <a:ext cx="846137" cy="198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2" name="Picture 10" descr="Foto28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77" t="26764" r="59267" b="23724"/>
          <a:stretch>
            <a:fillRect/>
          </a:stretch>
        </p:blipFill>
        <p:spPr bwMode="auto">
          <a:xfrm>
            <a:off x="3721100" y="4191000"/>
            <a:ext cx="9271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3" name="Picture 11" descr="Foto28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6" t="26764" r="74023" b="23724"/>
          <a:stretch>
            <a:fillRect/>
          </a:stretch>
        </p:blipFill>
        <p:spPr bwMode="auto">
          <a:xfrm>
            <a:off x="2438400" y="4191000"/>
            <a:ext cx="838200" cy="205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4" name="Picture 12" descr="Foto28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664" t="34583" r="4095" b="23724"/>
          <a:stretch>
            <a:fillRect/>
          </a:stretch>
        </p:blipFill>
        <p:spPr bwMode="auto">
          <a:xfrm>
            <a:off x="7810500" y="4419600"/>
            <a:ext cx="876300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685" name="Picture 13" descr="Foto28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95" t="34583" r="19336" b="23724"/>
          <a:stretch>
            <a:fillRect/>
          </a:stretch>
        </p:blipFill>
        <p:spPr bwMode="auto">
          <a:xfrm>
            <a:off x="6553200" y="4378326"/>
            <a:ext cx="914400" cy="179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686" name="Text Box 14"/>
          <p:cNvSpPr txBox="1">
            <a:spLocks noChangeArrowheads="1"/>
          </p:cNvSpPr>
          <p:nvPr/>
        </p:nvSpPr>
        <p:spPr bwMode="auto">
          <a:xfrm>
            <a:off x="2133600" y="35814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800">
                <a:solidFill>
                  <a:srgbClr val="000000"/>
                </a:solidFill>
                <a:latin typeface="Tahoma" panose="020B0604030504040204" pitchFamily="34" charset="0"/>
              </a:rPr>
              <a:t>Var A</a:t>
            </a:r>
            <a:endParaRPr lang="es-ES" altLang="es-MX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87" name="Text Box 15"/>
          <p:cNvSpPr txBox="1">
            <a:spLocks noChangeArrowheads="1"/>
          </p:cNvSpPr>
          <p:nvPr/>
        </p:nvSpPr>
        <p:spPr bwMode="auto">
          <a:xfrm>
            <a:off x="2133600" y="61722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800">
                <a:solidFill>
                  <a:srgbClr val="000000"/>
                </a:solidFill>
                <a:latin typeface="Tahoma" panose="020B0604030504040204" pitchFamily="34" charset="0"/>
              </a:rPr>
              <a:t>Var A</a:t>
            </a:r>
            <a:endParaRPr lang="es-ES" altLang="es-MX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88" name="Text Box 16"/>
          <p:cNvSpPr txBox="1">
            <a:spLocks noChangeArrowheads="1"/>
          </p:cNvSpPr>
          <p:nvPr/>
        </p:nvSpPr>
        <p:spPr bwMode="auto">
          <a:xfrm>
            <a:off x="6324600" y="35052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800">
                <a:solidFill>
                  <a:srgbClr val="000000"/>
                </a:solidFill>
                <a:latin typeface="Tahoma" panose="020B0604030504040204" pitchFamily="34" charset="0"/>
              </a:rPr>
              <a:t>Var A</a:t>
            </a:r>
            <a:endParaRPr lang="es-ES" altLang="es-MX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89" name="Text Box 17"/>
          <p:cNvSpPr txBox="1">
            <a:spLocks noChangeArrowheads="1"/>
          </p:cNvSpPr>
          <p:nvPr/>
        </p:nvSpPr>
        <p:spPr bwMode="auto">
          <a:xfrm>
            <a:off x="6248400" y="60960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800">
                <a:solidFill>
                  <a:srgbClr val="000000"/>
                </a:solidFill>
                <a:latin typeface="Tahoma" panose="020B0604030504040204" pitchFamily="34" charset="0"/>
              </a:rPr>
              <a:t>Var A</a:t>
            </a:r>
            <a:endParaRPr lang="es-ES" altLang="es-MX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90" name="Text Box 18"/>
          <p:cNvSpPr txBox="1">
            <a:spLocks noChangeArrowheads="1"/>
          </p:cNvSpPr>
          <p:nvPr/>
        </p:nvSpPr>
        <p:spPr bwMode="auto">
          <a:xfrm>
            <a:off x="3505200" y="35814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800">
                <a:solidFill>
                  <a:srgbClr val="000000"/>
                </a:solidFill>
                <a:latin typeface="Tahoma" panose="020B0604030504040204" pitchFamily="34" charset="0"/>
              </a:rPr>
              <a:t>Var B</a:t>
            </a:r>
            <a:endParaRPr lang="es-ES" altLang="es-MX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91" name="Text Box 19"/>
          <p:cNvSpPr txBox="1">
            <a:spLocks noChangeArrowheads="1"/>
          </p:cNvSpPr>
          <p:nvPr/>
        </p:nvSpPr>
        <p:spPr bwMode="auto">
          <a:xfrm>
            <a:off x="7620000" y="35052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800">
                <a:solidFill>
                  <a:srgbClr val="000000"/>
                </a:solidFill>
                <a:latin typeface="Tahoma" panose="020B0604030504040204" pitchFamily="34" charset="0"/>
              </a:rPr>
              <a:t>Var B</a:t>
            </a:r>
            <a:endParaRPr lang="es-ES" altLang="es-MX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92" name="Text Box 20"/>
          <p:cNvSpPr txBox="1">
            <a:spLocks noChangeArrowheads="1"/>
          </p:cNvSpPr>
          <p:nvPr/>
        </p:nvSpPr>
        <p:spPr bwMode="auto">
          <a:xfrm>
            <a:off x="3429000" y="61722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800">
                <a:solidFill>
                  <a:srgbClr val="000000"/>
                </a:solidFill>
                <a:latin typeface="Tahoma" panose="020B0604030504040204" pitchFamily="34" charset="0"/>
              </a:rPr>
              <a:t>Var B</a:t>
            </a:r>
            <a:endParaRPr lang="es-ES" altLang="es-MX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93" name="Text Box 21"/>
          <p:cNvSpPr txBox="1">
            <a:spLocks noChangeArrowheads="1"/>
          </p:cNvSpPr>
          <p:nvPr/>
        </p:nvSpPr>
        <p:spPr bwMode="auto">
          <a:xfrm>
            <a:off x="7467600" y="6096001"/>
            <a:ext cx="1447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800">
                <a:solidFill>
                  <a:srgbClr val="000000"/>
                </a:solidFill>
                <a:latin typeface="Tahoma" panose="020B0604030504040204" pitchFamily="34" charset="0"/>
              </a:rPr>
              <a:t>Var B</a:t>
            </a:r>
            <a:endParaRPr lang="es-ES" altLang="es-MX" sz="28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28694" name="Text Box 22"/>
          <p:cNvSpPr txBox="1">
            <a:spLocks noChangeArrowheads="1"/>
          </p:cNvSpPr>
          <p:nvPr/>
        </p:nvSpPr>
        <p:spPr bwMode="auto">
          <a:xfrm rot="10800000">
            <a:off x="4858564" y="1143000"/>
            <a:ext cx="553998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400" b="1">
                <a:solidFill>
                  <a:srgbClr val="FF0000"/>
                </a:solidFill>
                <a:latin typeface="Tahoma" panose="020B0604030504040204" pitchFamily="34" charset="0"/>
              </a:rPr>
              <a:t>Ayacucho</a:t>
            </a:r>
            <a:endParaRPr lang="es-ES" altLang="es-MX" sz="24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8695" name="Text Box 23"/>
          <p:cNvSpPr txBox="1">
            <a:spLocks noChangeArrowheads="1"/>
          </p:cNvSpPr>
          <p:nvPr/>
        </p:nvSpPr>
        <p:spPr bwMode="auto">
          <a:xfrm rot="10800000">
            <a:off x="4950639" y="4038600"/>
            <a:ext cx="553998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400" b="1">
                <a:solidFill>
                  <a:srgbClr val="FF0000"/>
                </a:solidFill>
                <a:latin typeface="Tahoma" panose="020B0604030504040204" pitchFamily="34" charset="0"/>
              </a:rPr>
              <a:t>Junín</a:t>
            </a:r>
            <a:endParaRPr lang="es-ES" altLang="es-MX" sz="24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8696" name="Text Box 24"/>
          <p:cNvSpPr txBox="1">
            <a:spLocks noChangeArrowheads="1"/>
          </p:cNvSpPr>
          <p:nvPr/>
        </p:nvSpPr>
        <p:spPr bwMode="auto">
          <a:xfrm rot="10800000">
            <a:off x="9125764" y="1143000"/>
            <a:ext cx="553998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400" b="1">
                <a:solidFill>
                  <a:srgbClr val="FF0000"/>
                </a:solidFill>
                <a:latin typeface="Tahoma" panose="020B0604030504040204" pitchFamily="34" charset="0"/>
              </a:rPr>
              <a:t>Cusco</a:t>
            </a:r>
            <a:endParaRPr lang="es-ES" altLang="es-MX" sz="24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28697" name="Text Box 25"/>
          <p:cNvSpPr txBox="1">
            <a:spLocks noChangeArrowheads="1"/>
          </p:cNvSpPr>
          <p:nvPr/>
        </p:nvSpPr>
        <p:spPr bwMode="auto">
          <a:xfrm rot="10800000">
            <a:off x="9141639" y="3962400"/>
            <a:ext cx="553998" cy="236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s-ES_tradnl" altLang="es-MX" sz="2400" b="1">
                <a:solidFill>
                  <a:srgbClr val="FF0000"/>
                </a:solidFill>
                <a:latin typeface="Tahoma" panose="020B0604030504040204" pitchFamily="34" charset="0"/>
              </a:rPr>
              <a:t>Huancavelica</a:t>
            </a:r>
            <a:endParaRPr lang="es-ES" altLang="es-MX" sz="2400" b="1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75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CARACTERES MORFOLÓGICOS APROPIADOS PARA LA CLASIFICACIÓN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Wellhausen</a:t>
            </a:r>
            <a:r>
              <a:rPr lang="en-US" dirty="0"/>
              <a:t>, Roberts, Hernández X., 1951: 7 de planta, 8 de </a:t>
            </a:r>
            <a:r>
              <a:rPr lang="en-US" dirty="0" err="1"/>
              <a:t>panoja</a:t>
            </a:r>
            <a:r>
              <a:rPr lang="en-US" dirty="0"/>
              <a:t>, 10 de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externos</a:t>
            </a:r>
            <a:r>
              <a:rPr lang="en-US" dirty="0"/>
              <a:t> de </a:t>
            </a:r>
            <a:r>
              <a:rPr lang="en-US" dirty="0" err="1"/>
              <a:t>mazorca</a:t>
            </a:r>
            <a:r>
              <a:rPr lang="en-US" dirty="0"/>
              <a:t>, 20 de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internos</a:t>
            </a:r>
            <a:r>
              <a:rPr lang="en-US" dirty="0"/>
              <a:t> de </a:t>
            </a:r>
            <a:r>
              <a:rPr lang="en-US" dirty="0" err="1"/>
              <a:t>mazorca</a:t>
            </a:r>
            <a:r>
              <a:rPr lang="en-US" dirty="0"/>
              <a:t>, dos </a:t>
            </a:r>
            <a:r>
              <a:rPr lang="en-US" dirty="0" err="1"/>
              <a:t>fisiológicos</a:t>
            </a:r>
            <a:r>
              <a:rPr lang="en-US" dirty="0"/>
              <a:t>, </a:t>
            </a:r>
            <a:r>
              <a:rPr lang="en-US" dirty="0" err="1"/>
              <a:t>tres</a:t>
            </a:r>
            <a:r>
              <a:rPr lang="en-US" dirty="0"/>
              <a:t> </a:t>
            </a:r>
            <a:r>
              <a:rPr lang="en-US" dirty="0" err="1"/>
              <a:t>genéticos</a:t>
            </a:r>
            <a:r>
              <a:rPr lang="en-US" dirty="0"/>
              <a:t> y </a:t>
            </a:r>
            <a:r>
              <a:rPr lang="en-US" dirty="0" err="1"/>
              <a:t>uno</a:t>
            </a:r>
            <a:r>
              <a:rPr lang="en-US" dirty="0"/>
              <a:t> </a:t>
            </a:r>
            <a:r>
              <a:rPr lang="en-US" dirty="0" err="1"/>
              <a:t>citológico</a:t>
            </a:r>
            <a:r>
              <a:rPr lang="en-US" dirty="0"/>
              <a:t>. </a:t>
            </a:r>
          </a:p>
          <a:p>
            <a:r>
              <a:rPr lang="en-US" dirty="0"/>
              <a:t>Goodman y </a:t>
            </a:r>
            <a:r>
              <a:rPr lang="en-US" dirty="0" err="1"/>
              <a:t>Paterniani</a:t>
            </a:r>
            <a:r>
              <a:rPr lang="en-US" dirty="0"/>
              <a:t>, 1969: </a:t>
            </a:r>
            <a:r>
              <a:rPr lang="en-US" dirty="0" err="1"/>
              <a:t>n°de</a:t>
            </a:r>
            <a:r>
              <a:rPr lang="en-US" dirty="0"/>
              <a:t> </a:t>
            </a:r>
            <a:r>
              <a:rPr lang="en-US" dirty="0" err="1"/>
              <a:t>hojas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planta, </a:t>
            </a:r>
            <a:r>
              <a:rPr lang="en-US" dirty="0" err="1"/>
              <a:t>longitud</a:t>
            </a:r>
            <a:r>
              <a:rPr lang="en-US" dirty="0"/>
              <a:t> de la parte </a:t>
            </a:r>
            <a:r>
              <a:rPr lang="en-US" dirty="0" err="1"/>
              <a:t>ramificada</a:t>
            </a:r>
            <a:r>
              <a:rPr lang="en-US" dirty="0"/>
              <a:t>/</a:t>
            </a:r>
            <a:r>
              <a:rPr lang="en-US" dirty="0" err="1"/>
              <a:t>longitud</a:t>
            </a:r>
            <a:r>
              <a:rPr lang="en-US" dirty="0"/>
              <a:t> total de la </a:t>
            </a:r>
            <a:r>
              <a:rPr lang="en-US" dirty="0" err="1"/>
              <a:t>panoja</a:t>
            </a:r>
            <a:r>
              <a:rPr lang="en-US" dirty="0"/>
              <a:t>, </a:t>
            </a:r>
            <a:r>
              <a:rPr lang="en-US" dirty="0" err="1"/>
              <a:t>longitud</a:t>
            </a:r>
            <a:r>
              <a:rPr lang="en-US" dirty="0"/>
              <a:t> de </a:t>
            </a:r>
            <a:r>
              <a:rPr lang="en-US" dirty="0" err="1"/>
              <a:t>internudo</a:t>
            </a:r>
            <a:r>
              <a:rPr lang="en-US" dirty="0"/>
              <a:t> de la </a:t>
            </a:r>
            <a:r>
              <a:rPr lang="en-US" dirty="0" err="1"/>
              <a:t>espiga</a:t>
            </a:r>
            <a:r>
              <a:rPr lang="en-US" dirty="0"/>
              <a:t> central, </a:t>
            </a:r>
            <a:r>
              <a:rPr lang="en-US" dirty="0" err="1"/>
              <a:t>longitud</a:t>
            </a:r>
            <a:r>
              <a:rPr lang="en-US" dirty="0"/>
              <a:t> de la </a:t>
            </a:r>
            <a:r>
              <a:rPr lang="en-US" dirty="0" err="1"/>
              <a:t>gluma</a:t>
            </a:r>
            <a:r>
              <a:rPr lang="en-US" dirty="0"/>
              <a:t> </a:t>
            </a:r>
            <a:r>
              <a:rPr lang="en-US" dirty="0" err="1"/>
              <a:t>masculina</a:t>
            </a:r>
            <a:r>
              <a:rPr lang="en-US" dirty="0"/>
              <a:t>, ancho del </a:t>
            </a:r>
            <a:r>
              <a:rPr lang="en-US" dirty="0" err="1"/>
              <a:t>grano</a:t>
            </a:r>
            <a:r>
              <a:rPr lang="en-US" dirty="0"/>
              <a:t>, </a:t>
            </a:r>
            <a:r>
              <a:rPr lang="en-US" dirty="0" err="1"/>
              <a:t>longitud</a:t>
            </a:r>
            <a:r>
              <a:rPr lang="en-US" dirty="0"/>
              <a:t> del </a:t>
            </a:r>
            <a:r>
              <a:rPr lang="en-US" dirty="0" err="1"/>
              <a:t>raquis</a:t>
            </a:r>
            <a:r>
              <a:rPr lang="en-US" dirty="0"/>
              <a:t>, </a:t>
            </a:r>
            <a:r>
              <a:rPr lang="en-US" dirty="0" err="1"/>
              <a:t>diámetro</a:t>
            </a:r>
            <a:r>
              <a:rPr lang="en-US" dirty="0"/>
              <a:t> de la </a:t>
            </a:r>
            <a:r>
              <a:rPr lang="en-US" dirty="0" err="1"/>
              <a:t>médula</a:t>
            </a:r>
            <a:r>
              <a:rPr lang="en-US" dirty="0"/>
              <a:t>, </a:t>
            </a:r>
            <a:r>
              <a:rPr lang="en-US" dirty="0" err="1"/>
              <a:t>diámetro</a:t>
            </a:r>
            <a:r>
              <a:rPr lang="en-US" dirty="0"/>
              <a:t> de la </a:t>
            </a:r>
            <a:r>
              <a:rPr lang="en-US" dirty="0" err="1"/>
              <a:t>mazorca</a:t>
            </a:r>
            <a:r>
              <a:rPr lang="en-US" dirty="0"/>
              <a:t>/</a:t>
            </a:r>
            <a:r>
              <a:rPr lang="en-US" dirty="0" err="1"/>
              <a:t>longitud</a:t>
            </a:r>
            <a:r>
              <a:rPr lang="en-US" dirty="0"/>
              <a:t>, ancho del </a:t>
            </a:r>
            <a:r>
              <a:rPr lang="en-US" dirty="0" err="1"/>
              <a:t>grano</a:t>
            </a:r>
            <a:r>
              <a:rPr lang="en-US" dirty="0"/>
              <a:t>/</a:t>
            </a:r>
            <a:r>
              <a:rPr lang="en-US" dirty="0" err="1"/>
              <a:t>longitud</a:t>
            </a:r>
            <a:r>
              <a:rPr lang="en-US" dirty="0"/>
              <a:t>.     </a:t>
            </a:r>
          </a:p>
          <a:p>
            <a:r>
              <a:rPr lang="en-US" dirty="0"/>
              <a:t>Cárdenas, 1976: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ramificaciones</a:t>
            </a:r>
            <a:r>
              <a:rPr lang="en-US" dirty="0"/>
              <a:t> </a:t>
            </a:r>
            <a:r>
              <a:rPr lang="en-US" dirty="0" err="1"/>
              <a:t>secundarias</a:t>
            </a:r>
            <a:r>
              <a:rPr lang="en-US" dirty="0"/>
              <a:t> de la </a:t>
            </a:r>
            <a:r>
              <a:rPr lang="en-US" dirty="0" err="1"/>
              <a:t>panoja</a:t>
            </a:r>
            <a:r>
              <a:rPr lang="en-US" dirty="0"/>
              <a:t>, </a:t>
            </a:r>
            <a:r>
              <a:rPr lang="en-US" dirty="0" err="1"/>
              <a:t>longitud</a:t>
            </a:r>
            <a:r>
              <a:rPr lang="en-US" dirty="0"/>
              <a:t> de la parte no </a:t>
            </a:r>
            <a:r>
              <a:rPr lang="en-US" dirty="0" err="1"/>
              <a:t>ramificada</a:t>
            </a:r>
            <a:r>
              <a:rPr lang="en-US" dirty="0"/>
              <a:t> y </a:t>
            </a:r>
            <a:r>
              <a:rPr lang="en-US" dirty="0" err="1"/>
              <a:t>longitud</a:t>
            </a:r>
            <a:r>
              <a:rPr lang="en-US" dirty="0"/>
              <a:t> de la </a:t>
            </a:r>
            <a:r>
              <a:rPr lang="en-US" dirty="0" err="1"/>
              <a:t>ramificación</a:t>
            </a:r>
            <a:r>
              <a:rPr lang="en-US" dirty="0"/>
              <a:t> inferior. </a:t>
            </a:r>
            <a:r>
              <a:rPr lang="en-US" dirty="0" err="1"/>
              <a:t>Longitud</a:t>
            </a:r>
            <a:r>
              <a:rPr lang="en-US" dirty="0"/>
              <a:t> y ancho de la </a:t>
            </a:r>
            <a:r>
              <a:rPr lang="en-US" dirty="0" err="1"/>
              <a:t>mazorca</a:t>
            </a:r>
            <a:r>
              <a:rPr lang="en-US" dirty="0"/>
              <a:t>.    </a:t>
            </a:r>
          </a:p>
          <a:p>
            <a:r>
              <a:rPr lang="en-US" dirty="0" err="1"/>
              <a:t>Ortíz</a:t>
            </a:r>
            <a:r>
              <a:rPr lang="en-US" dirty="0"/>
              <a:t>, 1985: </a:t>
            </a:r>
            <a:r>
              <a:rPr lang="en-US" dirty="0" err="1"/>
              <a:t>altura</a:t>
            </a:r>
            <a:r>
              <a:rPr lang="en-US" dirty="0"/>
              <a:t> de planta, </a:t>
            </a:r>
            <a:r>
              <a:rPr lang="en-US" dirty="0" err="1"/>
              <a:t>altura</a:t>
            </a:r>
            <a:r>
              <a:rPr lang="en-US" dirty="0"/>
              <a:t> de </a:t>
            </a:r>
            <a:r>
              <a:rPr lang="en-US" dirty="0" err="1"/>
              <a:t>mazorca</a:t>
            </a:r>
            <a:r>
              <a:rPr lang="en-US" dirty="0"/>
              <a:t>, n° de </a:t>
            </a:r>
            <a:r>
              <a:rPr lang="en-US" dirty="0" err="1"/>
              <a:t>hojas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planta, largo y ancho de la </a:t>
            </a:r>
            <a:r>
              <a:rPr lang="en-US" dirty="0" err="1"/>
              <a:t>hoja</a:t>
            </a:r>
            <a:r>
              <a:rPr lang="en-US" dirty="0"/>
              <a:t> de la </a:t>
            </a:r>
            <a:r>
              <a:rPr lang="en-US" dirty="0" err="1"/>
              <a:t>mazorca</a:t>
            </a:r>
            <a:r>
              <a:rPr lang="en-US" dirty="0"/>
              <a:t>,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ramas</a:t>
            </a:r>
            <a:r>
              <a:rPr lang="en-US" dirty="0"/>
              <a:t> de la </a:t>
            </a:r>
            <a:r>
              <a:rPr lang="en-US" dirty="0" err="1"/>
              <a:t>panoja</a:t>
            </a:r>
            <a:r>
              <a:rPr lang="en-US" dirty="0"/>
              <a:t>, </a:t>
            </a:r>
            <a:r>
              <a:rPr lang="en-US" dirty="0" err="1"/>
              <a:t>longitud</a:t>
            </a:r>
            <a:r>
              <a:rPr lang="en-US" dirty="0"/>
              <a:t> del </a:t>
            </a:r>
            <a:r>
              <a:rPr lang="en-US" dirty="0" err="1"/>
              <a:t>espacio</a:t>
            </a:r>
            <a:r>
              <a:rPr lang="en-US" dirty="0"/>
              <a:t> </a:t>
            </a:r>
            <a:r>
              <a:rPr lang="en-US" dirty="0" err="1"/>
              <a:t>ramificado</a:t>
            </a:r>
            <a:r>
              <a:rPr lang="en-US" dirty="0"/>
              <a:t>, </a:t>
            </a:r>
            <a:r>
              <a:rPr lang="en-US" dirty="0" err="1"/>
              <a:t>longitud</a:t>
            </a:r>
            <a:r>
              <a:rPr lang="en-US" dirty="0"/>
              <a:t> y </a:t>
            </a:r>
            <a:r>
              <a:rPr lang="en-US" dirty="0" err="1"/>
              <a:t>diámetro</a:t>
            </a:r>
            <a:r>
              <a:rPr lang="en-US" dirty="0"/>
              <a:t> de la </a:t>
            </a:r>
            <a:r>
              <a:rPr lang="en-US" dirty="0" err="1"/>
              <a:t>mazorca</a:t>
            </a:r>
            <a:r>
              <a:rPr lang="en-US" dirty="0"/>
              <a:t>, </a:t>
            </a:r>
            <a:r>
              <a:rPr lang="en-US" dirty="0" err="1"/>
              <a:t>n°de</a:t>
            </a:r>
            <a:r>
              <a:rPr lang="en-US" dirty="0"/>
              <a:t> </a:t>
            </a:r>
            <a:r>
              <a:rPr lang="en-US" dirty="0" err="1"/>
              <a:t>hileras</a:t>
            </a:r>
            <a:r>
              <a:rPr lang="en-US" dirty="0"/>
              <a:t> de </a:t>
            </a:r>
            <a:r>
              <a:rPr lang="en-US" dirty="0" err="1"/>
              <a:t>grano</a:t>
            </a:r>
            <a:r>
              <a:rPr lang="en-US" dirty="0"/>
              <a:t>, </a:t>
            </a:r>
            <a:r>
              <a:rPr lang="en-US" dirty="0" err="1"/>
              <a:t>longitud</a:t>
            </a:r>
            <a:r>
              <a:rPr lang="en-US" dirty="0"/>
              <a:t> y ancho del </a:t>
            </a:r>
            <a:r>
              <a:rPr lang="en-US" dirty="0" err="1"/>
              <a:t>grano</a:t>
            </a:r>
            <a:r>
              <a:rPr lang="en-US" dirty="0"/>
              <a:t>, </a:t>
            </a:r>
            <a:r>
              <a:rPr lang="en-US" dirty="0" err="1"/>
              <a:t>diámetro</a:t>
            </a:r>
            <a:r>
              <a:rPr lang="en-US" dirty="0"/>
              <a:t> de la </a:t>
            </a:r>
            <a:r>
              <a:rPr lang="en-US" dirty="0" err="1"/>
              <a:t>médula</a:t>
            </a:r>
            <a:r>
              <a:rPr lang="en-US" dirty="0"/>
              <a:t>, </a:t>
            </a:r>
            <a:r>
              <a:rPr lang="en-US" dirty="0" err="1"/>
              <a:t>diámetro</a:t>
            </a:r>
            <a:r>
              <a:rPr lang="en-US" dirty="0"/>
              <a:t> del </a:t>
            </a:r>
            <a:r>
              <a:rPr lang="en-US" dirty="0" err="1"/>
              <a:t>marlo</a:t>
            </a:r>
            <a:r>
              <a:rPr lang="en-US" dirty="0"/>
              <a:t>, ancho y largo de la </a:t>
            </a:r>
            <a:r>
              <a:rPr lang="en-US" dirty="0" err="1"/>
              <a:t>cúpula</a:t>
            </a:r>
            <a:r>
              <a:rPr lang="en-US" dirty="0"/>
              <a:t>.  </a:t>
            </a:r>
          </a:p>
          <a:p>
            <a:r>
              <a:rPr lang="en-US" dirty="0"/>
              <a:t>Sánchez, Goodman y Rawlings, 1993: N° de </a:t>
            </a:r>
            <a:r>
              <a:rPr lang="en-US" dirty="0" err="1"/>
              <a:t>hojas</a:t>
            </a:r>
            <a:r>
              <a:rPr lang="en-US" dirty="0"/>
              <a:t> de planta, </a:t>
            </a:r>
            <a:r>
              <a:rPr lang="en-US" dirty="0" err="1"/>
              <a:t>longitud</a:t>
            </a:r>
            <a:r>
              <a:rPr lang="en-US" dirty="0"/>
              <a:t> de la parte </a:t>
            </a:r>
            <a:r>
              <a:rPr lang="en-US" dirty="0" err="1"/>
              <a:t>ramificada</a:t>
            </a:r>
            <a:r>
              <a:rPr lang="en-US" dirty="0"/>
              <a:t>/</a:t>
            </a:r>
            <a:r>
              <a:rPr lang="en-US" dirty="0" err="1"/>
              <a:t>longitud</a:t>
            </a:r>
            <a:r>
              <a:rPr lang="en-US" dirty="0"/>
              <a:t> total de la </a:t>
            </a:r>
            <a:r>
              <a:rPr lang="en-US" dirty="0" err="1"/>
              <a:t>panoja</a:t>
            </a:r>
            <a:r>
              <a:rPr lang="en-US" dirty="0"/>
              <a:t>, </a:t>
            </a:r>
            <a:r>
              <a:rPr lang="en-US" dirty="0" err="1"/>
              <a:t>longitud</a:t>
            </a:r>
            <a:r>
              <a:rPr lang="en-US" dirty="0"/>
              <a:t> de </a:t>
            </a:r>
            <a:r>
              <a:rPr lang="en-US" dirty="0" err="1"/>
              <a:t>internudos</a:t>
            </a:r>
            <a:r>
              <a:rPr lang="en-US" dirty="0"/>
              <a:t> de la </a:t>
            </a:r>
            <a:r>
              <a:rPr lang="en-US" dirty="0" err="1"/>
              <a:t>espiga</a:t>
            </a:r>
            <a:r>
              <a:rPr lang="en-US" dirty="0"/>
              <a:t> central, </a:t>
            </a:r>
            <a:r>
              <a:rPr lang="en-US" dirty="0" err="1"/>
              <a:t>longitud</a:t>
            </a:r>
            <a:r>
              <a:rPr lang="en-US" dirty="0"/>
              <a:t> de la </a:t>
            </a:r>
            <a:r>
              <a:rPr lang="en-US" dirty="0" err="1"/>
              <a:t>gluma</a:t>
            </a:r>
            <a:r>
              <a:rPr lang="en-US" dirty="0"/>
              <a:t> </a:t>
            </a:r>
            <a:r>
              <a:rPr lang="en-US" dirty="0" err="1"/>
              <a:t>masculina</a:t>
            </a:r>
            <a:r>
              <a:rPr lang="en-US" dirty="0"/>
              <a:t>, ancho del </a:t>
            </a:r>
            <a:r>
              <a:rPr lang="en-US" dirty="0" err="1"/>
              <a:t>grano</a:t>
            </a:r>
            <a:r>
              <a:rPr lang="en-US" dirty="0"/>
              <a:t>, </a:t>
            </a:r>
            <a:r>
              <a:rPr lang="en-US" dirty="0" err="1"/>
              <a:t>longitud</a:t>
            </a:r>
            <a:r>
              <a:rPr lang="en-US" dirty="0"/>
              <a:t> del </a:t>
            </a:r>
            <a:r>
              <a:rPr lang="en-US" dirty="0" err="1"/>
              <a:t>raquis</a:t>
            </a:r>
            <a:r>
              <a:rPr lang="en-US" dirty="0"/>
              <a:t>, </a:t>
            </a:r>
            <a:r>
              <a:rPr lang="en-US" dirty="0" err="1"/>
              <a:t>diámetro</a:t>
            </a:r>
            <a:r>
              <a:rPr lang="en-US" dirty="0"/>
              <a:t> de la </a:t>
            </a:r>
            <a:r>
              <a:rPr lang="en-US" dirty="0" err="1"/>
              <a:t>médula</a:t>
            </a:r>
            <a:r>
              <a:rPr lang="en-US" dirty="0"/>
              <a:t>, </a:t>
            </a:r>
            <a:r>
              <a:rPr lang="en-US" dirty="0" err="1"/>
              <a:t>diámetro</a:t>
            </a:r>
            <a:r>
              <a:rPr lang="en-US" dirty="0"/>
              <a:t> de la </a:t>
            </a:r>
            <a:r>
              <a:rPr lang="en-US" dirty="0" err="1"/>
              <a:t>mazorca</a:t>
            </a:r>
            <a:r>
              <a:rPr lang="en-US" dirty="0"/>
              <a:t>/</a:t>
            </a:r>
            <a:r>
              <a:rPr lang="en-US" dirty="0" err="1"/>
              <a:t>longitud</a:t>
            </a:r>
            <a:r>
              <a:rPr lang="en-US" dirty="0"/>
              <a:t>, ancho del </a:t>
            </a:r>
            <a:r>
              <a:rPr lang="en-US" dirty="0" err="1"/>
              <a:t>grano</a:t>
            </a:r>
            <a:r>
              <a:rPr lang="en-US" dirty="0"/>
              <a:t>/</a:t>
            </a:r>
            <a:r>
              <a:rPr lang="en-US" dirty="0" err="1"/>
              <a:t>longitud</a:t>
            </a:r>
            <a:r>
              <a:rPr lang="en-US" dirty="0"/>
              <a:t> del </a:t>
            </a:r>
            <a:r>
              <a:rPr lang="en-US" dirty="0" err="1"/>
              <a:t>grano</a:t>
            </a:r>
            <a:r>
              <a:rPr lang="en-US" dirty="0"/>
              <a:t>.      </a:t>
            </a:r>
          </a:p>
          <a:p>
            <a:r>
              <a:rPr lang="en-US" dirty="0"/>
              <a:t>Ortiz y </a:t>
            </a:r>
            <a:r>
              <a:rPr lang="en-US" dirty="0" err="1"/>
              <a:t>Sevilla</a:t>
            </a:r>
            <a:r>
              <a:rPr lang="en-US" dirty="0"/>
              <a:t>, 1997: 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reproductivos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longitude de la </a:t>
            </a:r>
            <a:r>
              <a:rPr lang="en-US" dirty="0" err="1"/>
              <a:t>mazorca</a:t>
            </a:r>
            <a:r>
              <a:rPr lang="en-US" dirty="0"/>
              <a:t>, </a:t>
            </a:r>
            <a:r>
              <a:rPr lang="en-US" dirty="0" err="1"/>
              <a:t>n°de</a:t>
            </a:r>
            <a:r>
              <a:rPr lang="en-US" dirty="0"/>
              <a:t> </a:t>
            </a:r>
            <a:r>
              <a:rPr lang="en-US" dirty="0" err="1"/>
              <a:t>hileras</a:t>
            </a:r>
            <a:r>
              <a:rPr lang="en-US" dirty="0"/>
              <a:t> de </a:t>
            </a:r>
            <a:r>
              <a:rPr lang="en-US" dirty="0" err="1"/>
              <a:t>granos</a:t>
            </a:r>
            <a:r>
              <a:rPr lang="en-US" dirty="0"/>
              <a:t>, </a:t>
            </a:r>
            <a:r>
              <a:rPr lang="en-US" dirty="0" err="1"/>
              <a:t>diámetro</a:t>
            </a:r>
            <a:r>
              <a:rPr lang="en-US" dirty="0"/>
              <a:t> del </a:t>
            </a:r>
            <a:r>
              <a:rPr lang="en-US" dirty="0" err="1"/>
              <a:t>marlo</a:t>
            </a:r>
            <a:r>
              <a:rPr lang="en-US" dirty="0"/>
              <a:t> y ancho del </a:t>
            </a:r>
            <a:r>
              <a:rPr lang="en-US" dirty="0" err="1"/>
              <a:t>grano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270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CARACTERIZACIÓN MORFOLÓGICA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Mazorca</a:t>
            </a:r>
            <a:r>
              <a:rPr lang="en-US" sz="3200" dirty="0"/>
              <a:t>: Largo y Ancho de la </a:t>
            </a:r>
            <a:r>
              <a:rPr lang="en-US" sz="3200" dirty="0" err="1"/>
              <a:t>mazorca</a:t>
            </a:r>
            <a:r>
              <a:rPr lang="en-US" sz="3200" dirty="0"/>
              <a:t>. Forma, </a:t>
            </a:r>
            <a:r>
              <a:rPr lang="en-US" sz="3200" dirty="0" err="1"/>
              <a:t>número</a:t>
            </a:r>
            <a:r>
              <a:rPr lang="en-US" sz="3200" dirty="0"/>
              <a:t> de </a:t>
            </a:r>
            <a:r>
              <a:rPr lang="en-US" sz="3200" dirty="0" err="1"/>
              <a:t>hileras</a:t>
            </a:r>
            <a:r>
              <a:rPr lang="en-US" sz="3200" dirty="0"/>
              <a:t>, </a:t>
            </a:r>
            <a:r>
              <a:rPr lang="en-US" sz="3200" dirty="0" err="1"/>
              <a:t>diámetro</a:t>
            </a:r>
            <a:r>
              <a:rPr lang="en-US" sz="3200" dirty="0"/>
              <a:t> de  la </a:t>
            </a:r>
            <a:r>
              <a:rPr lang="en-US" sz="3200" dirty="0" err="1"/>
              <a:t>mazorca</a:t>
            </a:r>
            <a:r>
              <a:rPr lang="en-US" sz="3200" dirty="0"/>
              <a:t>, </a:t>
            </a:r>
            <a:r>
              <a:rPr lang="en-US" sz="3200" dirty="0" err="1"/>
              <a:t>marlo</a:t>
            </a:r>
            <a:r>
              <a:rPr lang="en-US" sz="3200" dirty="0"/>
              <a:t>, </a:t>
            </a:r>
            <a:r>
              <a:rPr lang="en-US" sz="3200" dirty="0" err="1"/>
              <a:t>raquis</a:t>
            </a:r>
            <a:r>
              <a:rPr lang="en-US" sz="3200" dirty="0"/>
              <a:t>, </a:t>
            </a:r>
            <a:r>
              <a:rPr lang="en-US" sz="3200" dirty="0" err="1"/>
              <a:t>relación</a:t>
            </a:r>
            <a:r>
              <a:rPr lang="en-US" sz="3200" dirty="0"/>
              <a:t> </a:t>
            </a:r>
            <a:r>
              <a:rPr lang="en-US" sz="3200" dirty="0" err="1"/>
              <a:t>marlo</a:t>
            </a:r>
            <a:r>
              <a:rPr lang="en-US" sz="3200" dirty="0"/>
              <a:t>/</a:t>
            </a:r>
            <a:r>
              <a:rPr lang="en-US" sz="3200" dirty="0" err="1"/>
              <a:t>raquis</a:t>
            </a:r>
            <a:r>
              <a:rPr lang="en-US" sz="3200" dirty="0"/>
              <a:t>.</a:t>
            </a:r>
          </a:p>
          <a:p>
            <a:r>
              <a:rPr lang="en-US" sz="3200" dirty="0" err="1"/>
              <a:t>Grano</a:t>
            </a:r>
            <a:r>
              <a:rPr lang="en-US" sz="3200" dirty="0"/>
              <a:t>: Largo, ancho, color, </a:t>
            </a:r>
            <a:r>
              <a:rPr lang="en-US" sz="3200" dirty="0" err="1"/>
              <a:t>textura</a:t>
            </a:r>
            <a:r>
              <a:rPr lang="en-US" sz="3200" dirty="0"/>
              <a:t>. Largo y ancho de la </a:t>
            </a:r>
            <a:r>
              <a:rPr lang="en-US" sz="3200" dirty="0" err="1"/>
              <a:t>cúpula</a:t>
            </a:r>
            <a:r>
              <a:rPr lang="en-US" sz="3200" dirty="0"/>
              <a:t>. </a:t>
            </a:r>
          </a:p>
          <a:p>
            <a:r>
              <a:rPr lang="en-US" sz="3200" dirty="0"/>
              <a:t>Planta: </a:t>
            </a:r>
            <a:r>
              <a:rPr lang="en-US" sz="3200" dirty="0" err="1"/>
              <a:t>Altura</a:t>
            </a:r>
            <a:r>
              <a:rPr lang="en-US" sz="3200" dirty="0"/>
              <a:t> de la planta, </a:t>
            </a:r>
            <a:r>
              <a:rPr lang="en-US" sz="3200" dirty="0" err="1"/>
              <a:t>altura</a:t>
            </a:r>
            <a:r>
              <a:rPr lang="en-US" sz="3200" dirty="0"/>
              <a:t> de la </a:t>
            </a:r>
            <a:r>
              <a:rPr lang="en-US" sz="3200" dirty="0" err="1"/>
              <a:t>mazorca</a:t>
            </a:r>
            <a:r>
              <a:rPr lang="en-US" sz="3200" dirty="0"/>
              <a:t> superior, </a:t>
            </a:r>
            <a:r>
              <a:rPr lang="en-US" sz="3200" dirty="0" err="1"/>
              <a:t>número</a:t>
            </a:r>
            <a:r>
              <a:rPr lang="en-US" sz="3200" dirty="0"/>
              <a:t> de </a:t>
            </a:r>
            <a:r>
              <a:rPr lang="en-US" sz="3200" dirty="0" err="1"/>
              <a:t>hojas</a:t>
            </a:r>
            <a:r>
              <a:rPr lang="en-US" sz="3200" dirty="0"/>
              <a:t>. </a:t>
            </a:r>
          </a:p>
          <a:p>
            <a:r>
              <a:rPr lang="en-US" sz="3200" dirty="0" err="1"/>
              <a:t>Panoja</a:t>
            </a:r>
            <a:r>
              <a:rPr lang="en-US" sz="3200" dirty="0"/>
              <a:t>: </a:t>
            </a:r>
            <a:r>
              <a:rPr lang="en-US" sz="3200" dirty="0" err="1"/>
              <a:t>Longitud</a:t>
            </a:r>
            <a:r>
              <a:rPr lang="en-US" sz="3200" dirty="0"/>
              <a:t> de la parte </a:t>
            </a:r>
            <a:r>
              <a:rPr lang="en-US" sz="3200" dirty="0" err="1"/>
              <a:t>ramificada</a:t>
            </a:r>
            <a:r>
              <a:rPr lang="en-US" sz="3200" dirty="0"/>
              <a:t>/ </a:t>
            </a:r>
            <a:r>
              <a:rPr lang="en-US" sz="3200" dirty="0" err="1"/>
              <a:t>longitud</a:t>
            </a:r>
            <a:r>
              <a:rPr lang="en-US" sz="3200" dirty="0"/>
              <a:t> total de la </a:t>
            </a:r>
            <a:r>
              <a:rPr lang="en-US" sz="3200" dirty="0" err="1"/>
              <a:t>panoja</a:t>
            </a:r>
            <a:r>
              <a:rPr lang="en-US" sz="3200" dirty="0"/>
              <a:t>. </a:t>
            </a:r>
            <a:r>
              <a:rPr lang="en-US" sz="3200" dirty="0" err="1"/>
              <a:t>Número</a:t>
            </a:r>
            <a:r>
              <a:rPr lang="en-US" sz="3200" dirty="0"/>
              <a:t> de </a:t>
            </a:r>
            <a:r>
              <a:rPr lang="en-US" sz="3200" dirty="0" err="1"/>
              <a:t>ramificaciones</a:t>
            </a:r>
            <a:r>
              <a:rPr lang="en-US" sz="3200" dirty="0"/>
              <a:t> </a:t>
            </a:r>
            <a:r>
              <a:rPr lang="en-US" sz="3200" dirty="0" err="1"/>
              <a:t>primarias</a:t>
            </a:r>
            <a:r>
              <a:rPr lang="en-US" sz="3200" dirty="0"/>
              <a:t> y </a:t>
            </a:r>
            <a:r>
              <a:rPr lang="en-US" sz="3200" dirty="0" err="1"/>
              <a:t>secundarias</a:t>
            </a:r>
            <a:r>
              <a:rPr lang="en-US" sz="3200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953414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MEZCLAS, CRUZAS Y SEGREGANTES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La </a:t>
            </a:r>
            <a:r>
              <a:rPr lang="en-US" dirty="0" err="1"/>
              <a:t>mayoría</a:t>
            </a:r>
            <a:r>
              <a:rPr lang="en-US" dirty="0"/>
              <a:t> de las </a:t>
            </a:r>
            <a:r>
              <a:rPr lang="en-US" dirty="0" err="1"/>
              <a:t>variedades</a:t>
            </a:r>
            <a:r>
              <a:rPr lang="en-US" dirty="0"/>
              <a:t> </a:t>
            </a:r>
            <a:r>
              <a:rPr lang="en-US" dirty="0" err="1"/>
              <a:t>nativas</a:t>
            </a:r>
            <a:r>
              <a:rPr lang="en-US" dirty="0"/>
              <a:t> de </a:t>
            </a:r>
            <a:r>
              <a:rPr lang="en-US" dirty="0" err="1"/>
              <a:t>maíz</a:t>
            </a:r>
            <a:r>
              <a:rPr lang="en-US" dirty="0"/>
              <a:t> que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agricultores</a:t>
            </a:r>
            <a:r>
              <a:rPr lang="en-US" dirty="0"/>
              <a:t> son </a:t>
            </a:r>
            <a:r>
              <a:rPr lang="en-US" dirty="0" err="1"/>
              <a:t>mezclas</a:t>
            </a:r>
            <a:r>
              <a:rPr lang="en-US" dirty="0"/>
              <a:t> de </a:t>
            </a:r>
            <a:r>
              <a:rPr lang="en-US" dirty="0" err="1"/>
              <a:t>razas</a:t>
            </a:r>
            <a:r>
              <a:rPr lang="en-US" dirty="0"/>
              <a:t> (</a:t>
            </a:r>
            <a:r>
              <a:rPr lang="en-US" dirty="0" err="1"/>
              <a:t>varias</a:t>
            </a:r>
            <a:r>
              <a:rPr lang="en-US" dirty="0"/>
              <a:t> </a:t>
            </a:r>
            <a:r>
              <a:rPr lang="en-US" dirty="0" err="1"/>
              <a:t>razas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población</a:t>
            </a:r>
            <a:r>
              <a:rPr lang="en-US" dirty="0"/>
              <a:t>), </a:t>
            </a:r>
            <a:r>
              <a:rPr lang="en-US" dirty="0" err="1"/>
              <a:t>cruzas</a:t>
            </a:r>
            <a:r>
              <a:rPr lang="en-US" dirty="0"/>
              <a:t> (</a:t>
            </a:r>
            <a:r>
              <a:rPr lang="en-US" dirty="0" err="1"/>
              <a:t>generación</a:t>
            </a:r>
            <a:r>
              <a:rPr lang="en-US" dirty="0"/>
              <a:t> F1 de un </a:t>
            </a:r>
            <a:r>
              <a:rPr lang="en-US" dirty="0" err="1"/>
              <a:t>cruce</a:t>
            </a:r>
            <a:r>
              <a:rPr lang="en-US" dirty="0"/>
              <a:t> entre dos </a:t>
            </a:r>
            <a:r>
              <a:rPr lang="en-US" dirty="0" err="1"/>
              <a:t>razas</a:t>
            </a:r>
            <a:r>
              <a:rPr lang="en-US" dirty="0"/>
              <a:t>) o </a:t>
            </a:r>
            <a:r>
              <a:rPr lang="en-US" dirty="0" err="1"/>
              <a:t>segregantes</a:t>
            </a:r>
            <a:r>
              <a:rPr lang="en-US" dirty="0"/>
              <a:t> de </a:t>
            </a:r>
            <a:r>
              <a:rPr lang="en-US" dirty="0" err="1"/>
              <a:t>cruzas</a:t>
            </a:r>
            <a:r>
              <a:rPr lang="en-US" dirty="0"/>
              <a:t> entre dos o </a:t>
            </a:r>
            <a:r>
              <a:rPr lang="en-US" dirty="0" err="1"/>
              <a:t>varias</a:t>
            </a:r>
            <a:r>
              <a:rPr lang="en-US" dirty="0"/>
              <a:t> </a:t>
            </a:r>
            <a:r>
              <a:rPr lang="en-US" dirty="0" err="1"/>
              <a:t>razas</a:t>
            </a:r>
            <a:r>
              <a:rPr lang="en-US" dirty="0"/>
              <a:t>. </a:t>
            </a:r>
          </a:p>
          <a:p>
            <a:r>
              <a:rPr lang="en-US" dirty="0"/>
              <a:t>Las </a:t>
            </a:r>
            <a:r>
              <a:rPr lang="en-US" dirty="0" err="1"/>
              <a:t>mezclas</a:t>
            </a:r>
            <a:r>
              <a:rPr lang="en-US" dirty="0"/>
              <a:t> se </a:t>
            </a:r>
            <a:r>
              <a:rPr lang="en-US" dirty="0" err="1"/>
              <a:t>diferencian</a:t>
            </a:r>
            <a:r>
              <a:rPr lang="en-US" dirty="0"/>
              <a:t> </a:t>
            </a:r>
            <a:r>
              <a:rPr lang="en-US" dirty="0" err="1"/>
              <a:t>fácilmente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el </a:t>
            </a:r>
            <a:r>
              <a:rPr lang="en-US" dirty="0" err="1"/>
              <a:t>maíz</a:t>
            </a:r>
            <a:r>
              <a:rPr lang="en-US" dirty="0"/>
              <a:t> </a:t>
            </a:r>
            <a:r>
              <a:rPr lang="en-US" dirty="0" err="1"/>
              <a:t>cosechado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campo o </a:t>
            </a:r>
            <a:r>
              <a:rPr lang="en-US" dirty="0" err="1"/>
              <a:t>guardado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techos</a:t>
            </a:r>
            <a:r>
              <a:rPr lang="en-US" dirty="0"/>
              <a:t> o </a:t>
            </a:r>
            <a:r>
              <a:rPr lang="en-US" dirty="0" err="1"/>
              <a:t>huayuncas</a:t>
            </a:r>
            <a:r>
              <a:rPr lang="en-US" dirty="0"/>
              <a:t>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mazorcas</a:t>
            </a:r>
            <a:r>
              <a:rPr lang="en-US" dirty="0"/>
              <a:t> que </a:t>
            </a:r>
            <a:r>
              <a:rPr lang="en-US" dirty="0" err="1"/>
              <a:t>pertenecen</a:t>
            </a:r>
            <a:r>
              <a:rPr lang="en-US" dirty="0"/>
              <a:t> a </a:t>
            </a:r>
            <a:r>
              <a:rPr lang="en-US" dirty="0" err="1"/>
              <a:t>varias</a:t>
            </a:r>
            <a:r>
              <a:rPr lang="en-US" dirty="0"/>
              <a:t> </a:t>
            </a:r>
            <a:r>
              <a:rPr lang="en-US" dirty="0" err="1"/>
              <a:t>razas</a:t>
            </a:r>
            <a:r>
              <a:rPr lang="en-US" dirty="0"/>
              <a:t>. Las </a:t>
            </a:r>
            <a:r>
              <a:rPr lang="en-US" dirty="0" err="1"/>
              <a:t>mezclas</a:t>
            </a:r>
            <a:r>
              <a:rPr lang="en-US" dirty="0"/>
              <a:t> son </a:t>
            </a:r>
            <a:r>
              <a:rPr lang="en-US" dirty="0" err="1"/>
              <a:t>menores</a:t>
            </a:r>
            <a:r>
              <a:rPr lang="en-US" dirty="0"/>
              <a:t> a </a:t>
            </a:r>
            <a:r>
              <a:rPr lang="en-US" dirty="0" err="1"/>
              <a:t>medida</a:t>
            </a:r>
            <a:r>
              <a:rPr lang="en-US" dirty="0"/>
              <a:t> que el </a:t>
            </a:r>
            <a:r>
              <a:rPr lang="en-US" dirty="0" err="1"/>
              <a:t>agricultor</a:t>
            </a:r>
            <a:r>
              <a:rPr lang="en-US" dirty="0"/>
              <a:t> </a:t>
            </a:r>
            <a:r>
              <a:rPr lang="en-US" dirty="0" err="1"/>
              <a:t>vende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producción</a:t>
            </a:r>
            <a:r>
              <a:rPr lang="en-US" dirty="0"/>
              <a:t>. </a:t>
            </a:r>
          </a:p>
          <a:p>
            <a:r>
              <a:rPr lang="en-US" dirty="0"/>
              <a:t>Las </a:t>
            </a:r>
            <a:r>
              <a:rPr lang="en-US" dirty="0" err="1"/>
              <a:t>cruzas</a:t>
            </a:r>
            <a:r>
              <a:rPr lang="en-US" dirty="0"/>
              <a:t> se </a:t>
            </a:r>
            <a:r>
              <a:rPr lang="en-US" dirty="0" err="1"/>
              <a:t>detectan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hay </a:t>
            </a:r>
            <a:r>
              <a:rPr lang="en-US" dirty="0" err="1"/>
              <a:t>mazorcas</a:t>
            </a:r>
            <a:r>
              <a:rPr lang="en-US" dirty="0"/>
              <a:t> </a:t>
            </a:r>
            <a:r>
              <a:rPr lang="en-US" dirty="0" err="1"/>
              <a:t>intemedias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de </a:t>
            </a:r>
            <a:r>
              <a:rPr lang="en-US" dirty="0" err="1"/>
              <a:t>mazorca</a:t>
            </a:r>
            <a:r>
              <a:rPr lang="en-US" dirty="0"/>
              <a:t>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segregantes</a:t>
            </a:r>
            <a:r>
              <a:rPr lang="en-US" dirty="0"/>
              <a:t> se </a:t>
            </a:r>
            <a:r>
              <a:rPr lang="en-US" dirty="0" err="1"/>
              <a:t>identifican</a:t>
            </a:r>
            <a:r>
              <a:rPr lang="en-US" dirty="0"/>
              <a:t> </a:t>
            </a:r>
            <a:r>
              <a:rPr lang="en-US" dirty="0" err="1"/>
              <a:t>cuando</a:t>
            </a:r>
            <a:r>
              <a:rPr lang="en-US" dirty="0"/>
              <a:t> </a:t>
            </a:r>
            <a:r>
              <a:rPr lang="en-US" dirty="0" err="1"/>
              <a:t>segregan</a:t>
            </a:r>
            <a:r>
              <a:rPr lang="en-US" dirty="0"/>
              <a:t> </a:t>
            </a:r>
            <a:r>
              <a:rPr lang="en-US" dirty="0" err="1"/>
              <a:t>mazorcas</a:t>
            </a:r>
            <a:r>
              <a:rPr lang="en-US" dirty="0"/>
              <a:t> de </a:t>
            </a:r>
            <a:r>
              <a:rPr lang="en-US" dirty="0" err="1"/>
              <a:t>razas</a:t>
            </a:r>
            <a:r>
              <a:rPr lang="en-US" dirty="0"/>
              <a:t> </a:t>
            </a:r>
            <a:r>
              <a:rPr lang="en-US" dirty="0" err="1"/>
              <a:t>distintas</a:t>
            </a:r>
            <a:r>
              <a:rPr lang="en-US" dirty="0"/>
              <a:t> y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de </a:t>
            </a:r>
            <a:r>
              <a:rPr lang="en-US" dirty="0" err="1"/>
              <a:t>aleurona</a:t>
            </a:r>
            <a:r>
              <a:rPr lang="en-US" dirty="0"/>
              <a:t> y </a:t>
            </a:r>
            <a:r>
              <a:rPr lang="en-US" dirty="0" err="1"/>
              <a:t>endospermo</a:t>
            </a:r>
            <a:r>
              <a:rPr lang="en-US" dirty="0"/>
              <a:t> del </a:t>
            </a:r>
            <a:r>
              <a:rPr lang="en-US" dirty="0" err="1"/>
              <a:t>grano</a:t>
            </a:r>
            <a:r>
              <a:rPr lang="en-US" dirty="0"/>
              <a:t> </a:t>
            </a:r>
            <a:r>
              <a:rPr lang="en-US" dirty="0" err="1"/>
              <a:t>segregan</a:t>
            </a:r>
            <a:r>
              <a:rPr lang="en-US" dirty="0"/>
              <a:t> </a:t>
            </a:r>
            <a:r>
              <a:rPr lang="en-US" dirty="0" err="1"/>
              <a:t>dentro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mazorca</a:t>
            </a:r>
            <a:r>
              <a:rPr lang="en-US" dirty="0"/>
              <a:t>.          </a:t>
            </a:r>
          </a:p>
        </p:txBody>
      </p:sp>
    </p:spTree>
    <p:extLst>
      <p:ext uri="{BB962C8B-B14F-4D97-AF65-F5344CB8AC3E}">
        <p14:creationId xmlns:p14="http://schemas.microsoft.com/office/powerpoint/2010/main" val="3117986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n 3" descr="C:\Users\user\Desktop\COLECCIÓN DE MAÍZ\CUZCO\Cuz 378,Cuz 381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591" y="145081"/>
            <a:ext cx="4686300" cy="6924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961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Imagen 3" descr="C:\Users\user\Desktop\COLECCIÓN DE MAÍZ\CUZCO\Cuz 366,Cuz 367,Cuz 368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9571" y="-146453"/>
            <a:ext cx="3282950" cy="6827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Marcador de contenido 4" descr="C:\Users\user\Desktop\COLECCIÓN DE MAÍZ\CUZCO\Cuz 349,Cuz 351,Cuz 352.jpg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5941" y="146452"/>
            <a:ext cx="4650059" cy="6534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398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POLIMORFISMO GENÉTICO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individuo</a:t>
            </a:r>
            <a:r>
              <a:rPr lang="en-US" dirty="0"/>
              <a:t> </a:t>
            </a:r>
            <a:r>
              <a:rPr lang="en-US" dirty="0" err="1"/>
              <a:t>diploide</a:t>
            </a:r>
            <a:r>
              <a:rPr lang="en-US" dirty="0"/>
              <a:t>  no hay mas que dos </a:t>
            </a:r>
            <a:r>
              <a:rPr lang="en-US" dirty="0" err="1"/>
              <a:t>alelos</a:t>
            </a:r>
            <a:r>
              <a:rPr lang="en-US" dirty="0"/>
              <a:t>.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población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haber</a:t>
            </a:r>
            <a:r>
              <a:rPr lang="en-US" dirty="0"/>
              <a:t> 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alelos</a:t>
            </a:r>
            <a:r>
              <a:rPr lang="en-US" dirty="0"/>
              <a:t>.</a:t>
            </a:r>
          </a:p>
          <a:p>
            <a:r>
              <a:rPr lang="en-US" dirty="0" err="1"/>
              <a:t>Ej</a:t>
            </a:r>
            <a:r>
              <a:rPr lang="en-US" dirty="0"/>
              <a:t>: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espárrago</a:t>
            </a:r>
            <a:r>
              <a:rPr lang="en-US" dirty="0"/>
              <a:t>, </a:t>
            </a:r>
            <a:r>
              <a:rPr lang="en-US" dirty="0" err="1"/>
              <a:t>especie</a:t>
            </a:r>
            <a:r>
              <a:rPr lang="en-US" dirty="0"/>
              <a:t> </a:t>
            </a:r>
            <a:r>
              <a:rPr lang="en-US" dirty="0" err="1"/>
              <a:t>introducida</a:t>
            </a:r>
            <a:r>
              <a:rPr lang="en-US" dirty="0"/>
              <a:t> </a:t>
            </a:r>
            <a:r>
              <a:rPr lang="en-US" dirty="0" err="1"/>
              <a:t>reciéntemente</a:t>
            </a:r>
            <a:r>
              <a:rPr lang="en-US" dirty="0"/>
              <a:t> hay solo dos </a:t>
            </a:r>
            <a:r>
              <a:rPr lang="en-US" dirty="0" err="1"/>
              <a:t>alelos</a:t>
            </a:r>
            <a:r>
              <a:rPr lang="en-US" dirty="0"/>
              <a:t> para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característica</a:t>
            </a:r>
            <a:r>
              <a:rPr lang="en-US" dirty="0"/>
              <a:t>.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maíz</a:t>
            </a:r>
            <a:r>
              <a:rPr lang="en-US" dirty="0"/>
              <a:t> </a:t>
            </a:r>
            <a:r>
              <a:rPr lang="en-US" dirty="0" err="1"/>
              <a:t>amiláceo</a:t>
            </a:r>
            <a:r>
              <a:rPr lang="en-US" dirty="0"/>
              <a:t> de la sierra de Ancash hay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alelos</a:t>
            </a:r>
            <a:r>
              <a:rPr lang="en-US" dirty="0"/>
              <a:t> para el color del </a:t>
            </a:r>
            <a:r>
              <a:rPr lang="en-US" dirty="0" err="1"/>
              <a:t>pericarpio</a:t>
            </a:r>
            <a:r>
              <a:rPr lang="en-US" dirty="0"/>
              <a:t> y </a:t>
            </a:r>
            <a:r>
              <a:rPr lang="en-US" dirty="0" err="1"/>
              <a:t>marlo</a:t>
            </a:r>
            <a:r>
              <a:rPr lang="en-US" dirty="0"/>
              <a:t>, se </a:t>
            </a:r>
            <a:r>
              <a:rPr lang="en-US" dirty="0" err="1"/>
              <a:t>conocen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lo </a:t>
            </a:r>
            <a:r>
              <a:rPr lang="en-US" dirty="0" err="1"/>
              <a:t>menos</a:t>
            </a:r>
            <a:r>
              <a:rPr lang="en-US" dirty="0"/>
              <a:t> </a:t>
            </a:r>
            <a:r>
              <a:rPr lang="en-US" dirty="0" err="1"/>
              <a:t>seis</a:t>
            </a:r>
            <a:r>
              <a:rPr lang="en-US" dirty="0"/>
              <a:t> </a:t>
            </a:r>
            <a:r>
              <a:rPr lang="en-US" dirty="0" err="1"/>
              <a:t>así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varios</a:t>
            </a:r>
            <a:r>
              <a:rPr lang="en-US" dirty="0"/>
              <a:t> genes </a:t>
            </a:r>
            <a:r>
              <a:rPr lang="en-US" dirty="0" err="1"/>
              <a:t>complementarios</a:t>
            </a:r>
            <a:r>
              <a:rPr lang="en-US" dirty="0"/>
              <a:t> que </a:t>
            </a:r>
            <a:r>
              <a:rPr lang="en-US" dirty="0" err="1"/>
              <a:t>permiten</a:t>
            </a:r>
            <a:r>
              <a:rPr lang="en-US" dirty="0"/>
              <a:t> o </a:t>
            </a:r>
            <a:r>
              <a:rPr lang="en-US" dirty="0" err="1"/>
              <a:t>modifican</a:t>
            </a:r>
            <a:r>
              <a:rPr lang="en-US" dirty="0"/>
              <a:t> la </a:t>
            </a:r>
            <a:r>
              <a:rPr lang="en-US" dirty="0" err="1"/>
              <a:t>acción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genes </a:t>
            </a:r>
            <a:r>
              <a:rPr lang="en-US" dirty="0" err="1"/>
              <a:t>mayores</a:t>
            </a:r>
            <a:r>
              <a:rPr lang="en-US" dirty="0"/>
              <a:t>. </a:t>
            </a:r>
          </a:p>
          <a:p>
            <a:r>
              <a:rPr lang="en-US" dirty="0" err="1"/>
              <a:t>En</a:t>
            </a:r>
            <a:r>
              <a:rPr lang="en-US" dirty="0"/>
              <a:t> general la </a:t>
            </a:r>
            <a:r>
              <a:rPr lang="en-US" dirty="0" err="1"/>
              <a:t>riqueza</a:t>
            </a:r>
            <a:r>
              <a:rPr lang="en-US" dirty="0"/>
              <a:t> </a:t>
            </a:r>
            <a:r>
              <a:rPr lang="en-US" dirty="0" err="1"/>
              <a:t>alélica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mayor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cultivos</a:t>
            </a:r>
            <a:r>
              <a:rPr lang="en-US" dirty="0"/>
              <a:t> </a:t>
            </a:r>
            <a:r>
              <a:rPr lang="en-US" dirty="0" err="1"/>
              <a:t>antiguos</a:t>
            </a:r>
            <a:r>
              <a:rPr lang="en-US" dirty="0"/>
              <a:t>. </a:t>
            </a:r>
          </a:p>
          <a:p>
            <a:r>
              <a:rPr lang="en-US" dirty="0" err="1"/>
              <a:t>Cuando</a:t>
            </a:r>
            <a:r>
              <a:rPr lang="en-US" dirty="0"/>
              <a:t> hay </a:t>
            </a:r>
            <a:r>
              <a:rPr lang="en-US" dirty="0" err="1"/>
              <a:t>muchos</a:t>
            </a:r>
            <a:r>
              <a:rPr lang="en-US" dirty="0"/>
              <a:t> </a:t>
            </a:r>
            <a:r>
              <a:rPr lang="en-US" dirty="0" err="1"/>
              <a:t>alelos</a:t>
            </a:r>
            <a:r>
              <a:rPr lang="en-US" dirty="0"/>
              <a:t>, </a:t>
            </a:r>
            <a:r>
              <a:rPr lang="en-US" dirty="0" err="1"/>
              <a:t>pocos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frecuencia</a:t>
            </a:r>
            <a:r>
              <a:rPr lang="en-US" dirty="0"/>
              <a:t>, </a:t>
            </a:r>
            <a:r>
              <a:rPr lang="en-US" dirty="0" err="1"/>
              <a:t>suficiente</a:t>
            </a:r>
            <a:r>
              <a:rPr lang="en-US" dirty="0"/>
              <a:t> para </a:t>
            </a:r>
            <a:r>
              <a:rPr lang="en-US" dirty="0" err="1"/>
              <a:t>distinguirlos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muestra</a:t>
            </a:r>
            <a:r>
              <a:rPr lang="en-US" dirty="0"/>
              <a:t> </a:t>
            </a:r>
            <a:r>
              <a:rPr lang="en-US" dirty="0" err="1"/>
              <a:t>pequeña</a:t>
            </a:r>
            <a:r>
              <a:rPr lang="en-US" dirty="0"/>
              <a:t>;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demás</a:t>
            </a:r>
            <a:r>
              <a:rPr lang="en-US" dirty="0"/>
              <a:t>,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frecuencia</a:t>
            </a:r>
            <a:r>
              <a:rPr lang="en-US" dirty="0"/>
              <a:t> </a:t>
            </a:r>
            <a:r>
              <a:rPr lang="en-US" dirty="0" err="1"/>
              <a:t>menor</a:t>
            </a:r>
            <a:r>
              <a:rPr lang="en-US" dirty="0"/>
              <a:t> a 0.01 son </a:t>
            </a:r>
            <a:r>
              <a:rPr lang="en-US" dirty="0" err="1"/>
              <a:t>difícil</a:t>
            </a:r>
            <a:r>
              <a:rPr lang="en-US" dirty="0"/>
              <a:t> de </a:t>
            </a:r>
            <a:r>
              <a:rPr lang="en-US" dirty="0" err="1"/>
              <a:t>encontrar</a:t>
            </a:r>
            <a:r>
              <a:rPr lang="en-US" dirty="0"/>
              <a:t> con la </a:t>
            </a:r>
            <a:r>
              <a:rPr lang="en-US" dirty="0" err="1"/>
              <a:t>metodología</a:t>
            </a:r>
            <a:r>
              <a:rPr lang="en-US" dirty="0"/>
              <a:t> experimental </a:t>
            </a:r>
            <a:r>
              <a:rPr lang="en-US" dirty="0" err="1"/>
              <a:t>usada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muestras</a:t>
            </a:r>
            <a:r>
              <a:rPr lang="en-US" dirty="0"/>
              <a:t> y </a:t>
            </a:r>
            <a:r>
              <a:rPr lang="en-US" dirty="0" err="1"/>
              <a:t>parcelas</a:t>
            </a:r>
            <a:r>
              <a:rPr lang="en-US" dirty="0"/>
              <a:t> </a:t>
            </a:r>
            <a:r>
              <a:rPr lang="en-US" dirty="0" err="1"/>
              <a:t>pequeñas</a:t>
            </a:r>
            <a:r>
              <a:rPr lang="en-US" dirty="0"/>
              <a:t>.       </a:t>
            </a:r>
          </a:p>
        </p:txBody>
      </p:sp>
    </p:spTree>
    <p:extLst>
      <p:ext uri="{BB962C8B-B14F-4D97-AF65-F5344CB8AC3E}">
        <p14:creationId xmlns:p14="http://schemas.microsoft.com/office/powerpoint/2010/main" val="10555396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FRECUENCIA DE GENES DEFINE DIFERENCIAS RACIALES 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 </a:t>
            </a:r>
            <a:r>
              <a:rPr lang="en-US" dirty="0" err="1"/>
              <a:t>razas</a:t>
            </a:r>
            <a:r>
              <a:rPr lang="en-US" dirty="0"/>
              <a:t> </a:t>
            </a:r>
            <a:r>
              <a:rPr lang="en-US" dirty="0" err="1"/>
              <a:t>difieren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frecuencia</a:t>
            </a:r>
            <a:r>
              <a:rPr lang="en-US" dirty="0"/>
              <a:t> de </a:t>
            </a:r>
            <a:r>
              <a:rPr lang="en-US" dirty="0" err="1"/>
              <a:t>sus</a:t>
            </a:r>
            <a:r>
              <a:rPr lang="en-US" dirty="0"/>
              <a:t> genes. </a:t>
            </a:r>
            <a:r>
              <a:rPr lang="en-US" dirty="0" err="1"/>
              <a:t>Todas</a:t>
            </a:r>
            <a:r>
              <a:rPr lang="en-US" dirty="0"/>
              <a:t> las </a:t>
            </a:r>
            <a:r>
              <a:rPr lang="en-US" dirty="0" err="1"/>
              <a:t>razas</a:t>
            </a:r>
            <a:r>
              <a:rPr lang="en-US" dirty="0"/>
              <a:t>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mismos</a:t>
            </a:r>
            <a:r>
              <a:rPr lang="en-US" dirty="0"/>
              <a:t> genes: el </a:t>
            </a:r>
            <a:r>
              <a:rPr lang="en-US" dirty="0" err="1"/>
              <a:t>número</a:t>
            </a:r>
            <a:r>
              <a:rPr lang="en-US" dirty="0"/>
              <a:t> de genes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individuos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especie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igual</a:t>
            </a:r>
            <a:r>
              <a:rPr lang="en-US" dirty="0"/>
              <a:t>. </a:t>
            </a:r>
          </a:p>
          <a:p>
            <a:r>
              <a:rPr lang="en-US" dirty="0"/>
              <a:t>Lo que </a:t>
            </a:r>
            <a:r>
              <a:rPr lang="en-US" dirty="0" err="1"/>
              <a:t>hace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individuos</a:t>
            </a:r>
            <a:r>
              <a:rPr lang="en-US" dirty="0"/>
              <a:t> son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alelos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que </a:t>
            </a:r>
            <a:r>
              <a:rPr lang="en-US" dirty="0" err="1"/>
              <a:t>heredan</a:t>
            </a:r>
            <a:r>
              <a:rPr lang="en-US" dirty="0"/>
              <a:t>.</a:t>
            </a:r>
          </a:p>
          <a:p>
            <a:r>
              <a:rPr lang="en-US" dirty="0"/>
              <a:t>Los </a:t>
            </a:r>
            <a:r>
              <a:rPr lang="en-US" dirty="0" err="1"/>
              <a:t>individuos</a:t>
            </a:r>
            <a:r>
              <a:rPr lang="en-US" dirty="0"/>
              <a:t> </a:t>
            </a:r>
            <a:r>
              <a:rPr lang="en-US" dirty="0" err="1"/>
              <a:t>pertenecientes</a:t>
            </a:r>
            <a:r>
              <a:rPr lang="en-US" dirty="0"/>
              <a:t> 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raza</a:t>
            </a:r>
            <a:r>
              <a:rPr lang="en-US" dirty="0"/>
              <a:t> </a:t>
            </a:r>
            <a:r>
              <a:rPr lang="en-US" dirty="0" err="1"/>
              <a:t>tienden</a:t>
            </a:r>
            <a:r>
              <a:rPr lang="en-US" dirty="0"/>
              <a:t> a </a:t>
            </a:r>
            <a:r>
              <a:rPr lang="en-US" dirty="0" err="1"/>
              <a:t>tener</a:t>
            </a:r>
            <a:r>
              <a:rPr lang="en-US" dirty="0"/>
              <a:t> la </a:t>
            </a:r>
            <a:r>
              <a:rPr lang="en-US" dirty="0" err="1"/>
              <a:t>misma</a:t>
            </a:r>
            <a:r>
              <a:rPr lang="en-US" dirty="0"/>
              <a:t> </a:t>
            </a:r>
            <a:r>
              <a:rPr lang="en-US" dirty="0" err="1"/>
              <a:t>frecuencia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alelos</a:t>
            </a:r>
            <a:r>
              <a:rPr lang="en-US" dirty="0"/>
              <a:t> de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distintivos</a:t>
            </a:r>
            <a:r>
              <a:rPr lang="en-US" dirty="0"/>
              <a:t>.     </a:t>
            </a:r>
          </a:p>
        </p:txBody>
      </p:sp>
    </p:spTree>
    <p:extLst>
      <p:ext uri="{BB962C8B-B14F-4D97-AF65-F5344CB8AC3E}">
        <p14:creationId xmlns:p14="http://schemas.microsoft.com/office/powerpoint/2010/main" val="967242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982" y="1305730"/>
            <a:ext cx="8718036" cy="5328366"/>
          </a:xfrm>
          <a:prstGeom prst="rect">
            <a:avLst/>
          </a:prstGeom>
        </p:spPr>
      </p:pic>
      <p:sp>
        <p:nvSpPr>
          <p:cNvPr id="3" name="CuadroTexto 2"/>
          <p:cNvSpPr txBox="1"/>
          <p:nvPr/>
        </p:nvSpPr>
        <p:spPr>
          <a:xfrm>
            <a:off x="2034862" y="193183"/>
            <a:ext cx="8178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b="1" dirty="0">
                <a:latin typeface="+mj-lt"/>
              </a:rPr>
              <a:t>FRECUENCIA DE COLOR DE PERICARPIO EN DIFERENTES RAZAS</a:t>
            </a:r>
          </a:p>
        </p:txBody>
      </p:sp>
    </p:spTree>
    <p:extLst>
      <p:ext uri="{BB962C8B-B14F-4D97-AF65-F5344CB8AC3E}">
        <p14:creationId xmlns:p14="http://schemas.microsoft.com/office/powerpoint/2010/main" val="27925032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EL CRITERIO ECOLÓGICO: EXPERIENCIAS PASADAS Y FUTURAS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Los </a:t>
            </a:r>
            <a:r>
              <a:rPr lang="en-US" dirty="0" err="1"/>
              <a:t>cambios</a:t>
            </a:r>
            <a:r>
              <a:rPr lang="en-US" dirty="0"/>
              <a:t> </a:t>
            </a:r>
            <a:r>
              <a:rPr lang="en-US" dirty="0" err="1"/>
              <a:t>heredables</a:t>
            </a:r>
            <a:r>
              <a:rPr lang="en-US" dirty="0"/>
              <a:t> del </a:t>
            </a:r>
            <a:r>
              <a:rPr lang="en-US" dirty="0" err="1"/>
              <a:t>proceso</a:t>
            </a:r>
            <a:r>
              <a:rPr lang="en-US" dirty="0"/>
              <a:t> de </a:t>
            </a:r>
            <a:r>
              <a:rPr lang="en-US" dirty="0" err="1"/>
              <a:t>adaptación</a:t>
            </a:r>
            <a:r>
              <a:rPr lang="en-US" dirty="0"/>
              <a:t> a un </a:t>
            </a:r>
            <a:r>
              <a:rPr lang="en-US" dirty="0" err="1"/>
              <a:t>ambiente</a:t>
            </a:r>
            <a:r>
              <a:rPr lang="en-US" dirty="0"/>
              <a:t> son </a:t>
            </a:r>
            <a:r>
              <a:rPr lang="en-US" dirty="0" err="1"/>
              <a:t>cambios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población</a:t>
            </a:r>
            <a:r>
              <a:rPr lang="en-US" dirty="0"/>
              <a:t>. Lo que cambia </a:t>
            </a:r>
            <a:r>
              <a:rPr lang="en-US" dirty="0" err="1"/>
              <a:t>es</a:t>
            </a:r>
            <a:r>
              <a:rPr lang="en-US" dirty="0"/>
              <a:t> la </a:t>
            </a:r>
            <a:r>
              <a:rPr lang="en-US" dirty="0" err="1"/>
              <a:t>frecuencia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alelos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población</a:t>
            </a:r>
            <a:r>
              <a:rPr lang="en-US" dirty="0"/>
              <a:t>. Si la </a:t>
            </a:r>
            <a:r>
              <a:rPr lang="en-US" dirty="0" err="1"/>
              <a:t>variabilidad</a:t>
            </a:r>
            <a:r>
              <a:rPr lang="en-US" dirty="0"/>
              <a:t> </a:t>
            </a:r>
            <a:r>
              <a:rPr lang="en-US" dirty="0" err="1"/>
              <a:t>genética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mayor, mayor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también</a:t>
            </a:r>
            <a:r>
              <a:rPr lang="en-US" dirty="0"/>
              <a:t> la </a:t>
            </a:r>
            <a:r>
              <a:rPr lang="en-US" dirty="0" err="1"/>
              <a:t>posibilidad</a:t>
            </a:r>
            <a:r>
              <a:rPr lang="en-US" dirty="0"/>
              <a:t> de un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adaptativo</a:t>
            </a:r>
            <a:r>
              <a:rPr lang="en-US" dirty="0"/>
              <a:t>. </a:t>
            </a:r>
          </a:p>
          <a:p>
            <a:r>
              <a:rPr lang="en-US" dirty="0"/>
              <a:t>El </a:t>
            </a:r>
            <a:r>
              <a:rPr lang="en-US" dirty="0" err="1"/>
              <a:t>cambio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rápido</a:t>
            </a:r>
            <a:r>
              <a:rPr lang="en-US" dirty="0"/>
              <a:t>, o sea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pocas</a:t>
            </a:r>
            <a:r>
              <a:rPr lang="en-US" dirty="0"/>
              <a:t> </a:t>
            </a:r>
            <a:r>
              <a:rPr lang="en-US" dirty="0" err="1"/>
              <a:t>generaciones</a:t>
            </a:r>
            <a:r>
              <a:rPr lang="en-US" dirty="0"/>
              <a:t>. </a:t>
            </a:r>
            <a:r>
              <a:rPr lang="en-US" dirty="0" err="1"/>
              <a:t>En</a:t>
            </a:r>
            <a:r>
              <a:rPr lang="en-US" dirty="0"/>
              <a:t> la Sierra del </a:t>
            </a:r>
            <a:r>
              <a:rPr lang="en-US" dirty="0" err="1"/>
              <a:t>Perú</a:t>
            </a:r>
            <a:r>
              <a:rPr lang="en-US" dirty="0"/>
              <a:t> se </a:t>
            </a:r>
            <a:r>
              <a:rPr lang="en-US" dirty="0" err="1"/>
              <a:t>demostró</a:t>
            </a:r>
            <a:r>
              <a:rPr lang="en-US" dirty="0"/>
              <a:t> que la </a:t>
            </a:r>
            <a:r>
              <a:rPr lang="en-US" dirty="0" err="1"/>
              <a:t>raza</a:t>
            </a:r>
            <a:r>
              <a:rPr lang="en-US" dirty="0"/>
              <a:t> Cuzco </a:t>
            </a:r>
            <a:r>
              <a:rPr lang="en-US" dirty="0" err="1"/>
              <a:t>Gigante</a:t>
            </a:r>
            <a:r>
              <a:rPr lang="en-US" dirty="0"/>
              <a:t> se </a:t>
            </a:r>
            <a:r>
              <a:rPr lang="en-US" dirty="0" err="1"/>
              <a:t>adapta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dos </a:t>
            </a:r>
            <a:r>
              <a:rPr lang="en-US" dirty="0" err="1"/>
              <a:t>generaciones</a:t>
            </a:r>
            <a:r>
              <a:rPr lang="en-US" dirty="0"/>
              <a:t> </a:t>
            </a:r>
            <a:r>
              <a:rPr lang="en-US" dirty="0" err="1"/>
              <a:t>cambiando</a:t>
            </a:r>
            <a:r>
              <a:rPr lang="en-US" dirty="0"/>
              <a:t> </a:t>
            </a:r>
            <a:r>
              <a:rPr lang="en-US" dirty="0" err="1"/>
              <a:t>algunos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adaptativos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el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mazorcas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planta (</a:t>
            </a:r>
            <a:r>
              <a:rPr lang="en-US" dirty="0" err="1"/>
              <a:t>varió</a:t>
            </a:r>
            <a:r>
              <a:rPr lang="en-US" dirty="0"/>
              <a:t> de 0.57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población</a:t>
            </a:r>
            <a:r>
              <a:rPr lang="en-US" dirty="0"/>
              <a:t> </a:t>
            </a:r>
            <a:r>
              <a:rPr lang="en-US" dirty="0" err="1"/>
              <a:t>producida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Junín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segunda</a:t>
            </a:r>
            <a:r>
              <a:rPr lang="en-US" dirty="0"/>
              <a:t> </a:t>
            </a:r>
            <a:r>
              <a:rPr lang="en-US" dirty="0" err="1"/>
              <a:t>generación</a:t>
            </a:r>
            <a:r>
              <a:rPr lang="en-US" dirty="0"/>
              <a:t> vs 0.30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población</a:t>
            </a:r>
            <a:r>
              <a:rPr lang="en-US" dirty="0"/>
              <a:t> </a:t>
            </a:r>
            <a:r>
              <a:rPr lang="en-US" dirty="0" err="1"/>
              <a:t>producida</a:t>
            </a:r>
            <a:r>
              <a:rPr lang="en-US" dirty="0"/>
              <a:t> con </a:t>
            </a:r>
            <a:r>
              <a:rPr lang="en-US" dirty="0" err="1"/>
              <a:t>semilla</a:t>
            </a:r>
            <a:r>
              <a:rPr lang="en-US" dirty="0"/>
              <a:t> de Urubamba). La </a:t>
            </a:r>
            <a:r>
              <a:rPr lang="en-US" dirty="0" err="1"/>
              <a:t>altura</a:t>
            </a:r>
            <a:r>
              <a:rPr lang="en-US" dirty="0"/>
              <a:t> de la </a:t>
            </a:r>
            <a:r>
              <a:rPr lang="en-US" dirty="0" err="1"/>
              <a:t>mazorca</a:t>
            </a:r>
            <a:r>
              <a:rPr lang="en-US" dirty="0"/>
              <a:t> </a:t>
            </a:r>
            <a:r>
              <a:rPr lang="en-US" dirty="0" err="1"/>
              <a:t>bajó</a:t>
            </a:r>
            <a:r>
              <a:rPr lang="en-US" dirty="0"/>
              <a:t> </a:t>
            </a:r>
            <a:r>
              <a:rPr lang="en-US" dirty="0" err="1"/>
              <a:t>sucesivamente</a:t>
            </a:r>
            <a:r>
              <a:rPr lang="en-US" dirty="0"/>
              <a:t> de 0.93 con la </a:t>
            </a:r>
            <a:r>
              <a:rPr lang="en-US" dirty="0" err="1"/>
              <a:t>semilla</a:t>
            </a:r>
            <a:r>
              <a:rPr lang="en-US" dirty="0"/>
              <a:t> </a:t>
            </a:r>
            <a:r>
              <a:rPr lang="en-US" dirty="0" err="1"/>
              <a:t>producida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Urubamba a 0.87 (con </a:t>
            </a:r>
            <a:r>
              <a:rPr lang="en-US" dirty="0" err="1"/>
              <a:t>semilla</a:t>
            </a:r>
            <a:r>
              <a:rPr lang="en-US" dirty="0"/>
              <a:t> de la 1° </a:t>
            </a:r>
            <a:r>
              <a:rPr lang="en-US" dirty="0" err="1"/>
              <a:t>generación</a:t>
            </a:r>
            <a:r>
              <a:rPr lang="en-US" dirty="0"/>
              <a:t>) y 0.83 (2° </a:t>
            </a:r>
            <a:r>
              <a:rPr lang="en-US" dirty="0" err="1"/>
              <a:t>generación</a:t>
            </a:r>
            <a:r>
              <a:rPr lang="en-US" dirty="0"/>
              <a:t> de </a:t>
            </a:r>
            <a:r>
              <a:rPr lang="en-US" dirty="0" err="1"/>
              <a:t>adaptación</a:t>
            </a:r>
            <a:r>
              <a:rPr lang="en-US" dirty="0"/>
              <a:t>). </a:t>
            </a:r>
          </a:p>
          <a:p>
            <a:r>
              <a:rPr lang="en-US" dirty="0" err="1"/>
              <a:t>Conclusión</a:t>
            </a:r>
            <a:r>
              <a:rPr lang="en-US" dirty="0"/>
              <a:t>: Se </a:t>
            </a:r>
            <a:r>
              <a:rPr lang="en-US" dirty="0" err="1"/>
              <a:t>forman</a:t>
            </a:r>
            <a:r>
              <a:rPr lang="en-US" dirty="0"/>
              <a:t> </a:t>
            </a:r>
            <a:r>
              <a:rPr lang="en-US" dirty="0" err="1"/>
              <a:t>nuevas</a:t>
            </a:r>
            <a:r>
              <a:rPr lang="en-US" dirty="0"/>
              <a:t> </a:t>
            </a:r>
            <a:r>
              <a:rPr lang="en-US" dirty="0" err="1"/>
              <a:t>razas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proceso</a:t>
            </a:r>
            <a:r>
              <a:rPr lang="en-US" dirty="0"/>
              <a:t> de </a:t>
            </a:r>
            <a:r>
              <a:rPr lang="en-US" dirty="0" err="1"/>
              <a:t>adaptación</a:t>
            </a:r>
            <a:r>
              <a:rPr lang="en-US" dirty="0"/>
              <a:t> de las </a:t>
            </a:r>
            <a:r>
              <a:rPr lang="en-US" dirty="0" err="1"/>
              <a:t>poblaciones</a:t>
            </a:r>
            <a:r>
              <a:rPr lang="en-US" dirty="0"/>
              <a:t> a </a:t>
            </a:r>
            <a:r>
              <a:rPr lang="en-US" dirty="0" err="1"/>
              <a:t>nuevos</a:t>
            </a:r>
            <a:r>
              <a:rPr lang="en-US" dirty="0"/>
              <a:t> </a:t>
            </a:r>
            <a:r>
              <a:rPr lang="en-US" dirty="0" err="1"/>
              <a:t>ambientes</a:t>
            </a:r>
            <a:r>
              <a:rPr lang="en-US" dirty="0"/>
              <a:t>.      </a:t>
            </a:r>
          </a:p>
        </p:txBody>
      </p:sp>
    </p:spTree>
    <p:extLst>
      <p:ext uri="{BB962C8B-B14F-4D97-AF65-F5344CB8AC3E}">
        <p14:creationId xmlns:p14="http://schemas.microsoft.com/office/powerpoint/2010/main" val="4170122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 Resistencia a </a:t>
            </a:r>
            <a:r>
              <a:rPr lang="en-US" dirty="0" err="1"/>
              <a:t>patógenos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93596" y="182562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Muchas</a:t>
            </a:r>
            <a:r>
              <a:rPr lang="en-US" dirty="0"/>
              <a:t> </a:t>
            </a:r>
            <a:r>
              <a:rPr lang="en-US" dirty="0" err="1"/>
              <a:t>evidencias</a:t>
            </a:r>
            <a:r>
              <a:rPr lang="en-US" dirty="0"/>
              <a:t> </a:t>
            </a:r>
            <a:r>
              <a:rPr lang="en-US" dirty="0" err="1"/>
              <a:t>muestran</a:t>
            </a:r>
            <a:r>
              <a:rPr lang="en-US" dirty="0"/>
              <a:t> que las </a:t>
            </a:r>
            <a:r>
              <a:rPr lang="en-US" dirty="0" err="1"/>
              <a:t>enfermedades</a:t>
            </a:r>
            <a:r>
              <a:rPr lang="en-US" dirty="0"/>
              <a:t> que </a:t>
            </a:r>
            <a:r>
              <a:rPr lang="en-US" dirty="0" err="1"/>
              <a:t>limitan</a:t>
            </a:r>
            <a:r>
              <a:rPr lang="en-US" dirty="0"/>
              <a:t> la </a:t>
            </a:r>
            <a:r>
              <a:rPr lang="en-US" dirty="0" err="1"/>
              <a:t>adaptación</a:t>
            </a:r>
            <a:r>
              <a:rPr lang="en-US" dirty="0"/>
              <a:t> a zonas </a:t>
            </a:r>
            <a:r>
              <a:rPr lang="en-US" dirty="0" err="1"/>
              <a:t>bajas</a:t>
            </a:r>
            <a:r>
              <a:rPr lang="en-US" dirty="0"/>
              <a:t> </a:t>
            </a:r>
            <a:r>
              <a:rPr lang="en-US" dirty="0" err="1"/>
              <a:t>impiden</a:t>
            </a:r>
            <a:r>
              <a:rPr lang="en-US" dirty="0"/>
              <a:t> el </a:t>
            </a:r>
            <a:r>
              <a:rPr lang="en-US" dirty="0" err="1"/>
              <a:t>cultivo</a:t>
            </a:r>
            <a:r>
              <a:rPr lang="en-US" dirty="0"/>
              <a:t> de </a:t>
            </a:r>
            <a:r>
              <a:rPr lang="en-US" dirty="0" err="1"/>
              <a:t>razas</a:t>
            </a:r>
            <a:r>
              <a:rPr lang="en-US" dirty="0"/>
              <a:t> de Sierra </a:t>
            </a:r>
            <a:r>
              <a:rPr lang="en-US" dirty="0" err="1"/>
              <a:t>en</a:t>
            </a:r>
            <a:r>
              <a:rPr lang="en-US" dirty="0"/>
              <a:t> la Costa y </a:t>
            </a:r>
            <a:r>
              <a:rPr lang="en-US" dirty="0" err="1"/>
              <a:t>Selva</a:t>
            </a:r>
            <a:r>
              <a:rPr lang="en-US" dirty="0"/>
              <a:t>.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las </a:t>
            </a:r>
            <a:r>
              <a:rPr lang="en-US" dirty="0" err="1"/>
              <a:t>razas</a:t>
            </a:r>
            <a:r>
              <a:rPr lang="en-US" dirty="0"/>
              <a:t> de Sierra no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sembrarse</a:t>
            </a:r>
            <a:r>
              <a:rPr lang="en-US" dirty="0"/>
              <a:t> </a:t>
            </a:r>
            <a:r>
              <a:rPr lang="en-US" dirty="0" err="1"/>
              <a:t>debajo</a:t>
            </a:r>
            <a:r>
              <a:rPr lang="en-US" dirty="0"/>
              <a:t> de 2,300 </a:t>
            </a:r>
            <a:r>
              <a:rPr lang="en-US" dirty="0" err="1"/>
              <a:t>msnm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son </a:t>
            </a:r>
            <a:r>
              <a:rPr lang="en-US" dirty="0" err="1"/>
              <a:t>afectadas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el virus del </a:t>
            </a:r>
            <a:r>
              <a:rPr lang="en-US" dirty="0" err="1"/>
              <a:t>moteado</a:t>
            </a:r>
            <a:r>
              <a:rPr lang="en-US" dirty="0"/>
              <a:t> </a:t>
            </a:r>
            <a:r>
              <a:rPr lang="en-US" dirty="0" err="1"/>
              <a:t>clorótico</a:t>
            </a:r>
            <a:r>
              <a:rPr lang="en-US" dirty="0"/>
              <a:t> (CMMV).</a:t>
            </a:r>
          </a:p>
          <a:p>
            <a:r>
              <a:rPr lang="en-US" dirty="0"/>
              <a:t>Los </a:t>
            </a:r>
            <a:r>
              <a:rPr lang="en-US" dirty="0" err="1"/>
              <a:t>caracteres</a:t>
            </a:r>
            <a:r>
              <a:rPr lang="en-US" dirty="0"/>
              <a:t> que </a:t>
            </a:r>
            <a:r>
              <a:rPr lang="en-US" dirty="0" err="1"/>
              <a:t>gobiernan</a:t>
            </a:r>
            <a:r>
              <a:rPr lang="en-US" dirty="0"/>
              <a:t> la </a:t>
            </a:r>
            <a:r>
              <a:rPr lang="en-US" dirty="0" err="1"/>
              <a:t>adaptación</a:t>
            </a:r>
            <a:r>
              <a:rPr lang="en-US" dirty="0"/>
              <a:t> se </a:t>
            </a:r>
            <a:r>
              <a:rPr lang="en-US" dirty="0" err="1"/>
              <a:t>denominan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adaptativos</a:t>
            </a:r>
            <a:r>
              <a:rPr lang="en-US" dirty="0"/>
              <a:t>: </a:t>
            </a:r>
            <a:r>
              <a:rPr lang="en-US" dirty="0" err="1"/>
              <a:t>rendimiento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condiciones</a:t>
            </a:r>
            <a:r>
              <a:rPr lang="en-US" dirty="0"/>
              <a:t> </a:t>
            </a:r>
            <a:r>
              <a:rPr lang="en-US" dirty="0" err="1"/>
              <a:t>limitantes</a:t>
            </a:r>
            <a:r>
              <a:rPr lang="en-US" dirty="0"/>
              <a:t>, </a:t>
            </a:r>
            <a:r>
              <a:rPr lang="en-US" dirty="0" err="1"/>
              <a:t>adaptación</a:t>
            </a:r>
            <a:r>
              <a:rPr lang="en-US" dirty="0"/>
              <a:t> a </a:t>
            </a:r>
            <a:r>
              <a:rPr lang="en-US" dirty="0" err="1"/>
              <a:t>suelos</a:t>
            </a:r>
            <a:r>
              <a:rPr lang="en-US" dirty="0"/>
              <a:t> de </a:t>
            </a:r>
            <a:r>
              <a:rPr lang="en-US" dirty="0" err="1"/>
              <a:t>baja</a:t>
            </a:r>
            <a:r>
              <a:rPr lang="en-US" dirty="0"/>
              <a:t> </a:t>
            </a:r>
            <a:r>
              <a:rPr lang="en-US" dirty="0" err="1"/>
              <a:t>fertilidad</a:t>
            </a:r>
            <a:r>
              <a:rPr lang="en-US" dirty="0"/>
              <a:t>, </a:t>
            </a:r>
            <a:r>
              <a:rPr lang="en-US" dirty="0" err="1"/>
              <a:t>tolerancia</a:t>
            </a:r>
            <a:r>
              <a:rPr lang="en-US" dirty="0"/>
              <a:t> al </a:t>
            </a:r>
            <a:r>
              <a:rPr lang="en-US" dirty="0" err="1"/>
              <a:t>frío</a:t>
            </a:r>
            <a:r>
              <a:rPr lang="en-US" dirty="0"/>
              <a:t>, al </a:t>
            </a:r>
            <a:r>
              <a:rPr lang="en-US" dirty="0" err="1"/>
              <a:t>calor</a:t>
            </a:r>
            <a:r>
              <a:rPr lang="en-US" dirty="0"/>
              <a:t>, a la </a:t>
            </a:r>
            <a:r>
              <a:rPr lang="en-US" dirty="0" err="1"/>
              <a:t>sequía</a:t>
            </a:r>
            <a:r>
              <a:rPr lang="en-US" dirty="0"/>
              <a:t>, al </a:t>
            </a:r>
            <a:r>
              <a:rPr lang="en-US" dirty="0" err="1"/>
              <a:t>exceso</a:t>
            </a:r>
            <a:r>
              <a:rPr lang="en-US" dirty="0"/>
              <a:t> de </a:t>
            </a:r>
            <a:r>
              <a:rPr lang="en-US" dirty="0" err="1"/>
              <a:t>población</a:t>
            </a:r>
            <a:r>
              <a:rPr lang="en-US" dirty="0"/>
              <a:t> y </a:t>
            </a:r>
            <a:r>
              <a:rPr lang="en-US" dirty="0" err="1"/>
              <a:t>malezas</a:t>
            </a:r>
            <a:r>
              <a:rPr lang="en-US" dirty="0"/>
              <a:t>, </a:t>
            </a:r>
            <a:r>
              <a:rPr lang="en-US" dirty="0" err="1"/>
              <a:t>resistencia</a:t>
            </a:r>
            <a:r>
              <a:rPr lang="en-US" dirty="0"/>
              <a:t> a </a:t>
            </a:r>
            <a:r>
              <a:rPr lang="en-US" dirty="0" err="1"/>
              <a:t>plagas</a:t>
            </a:r>
            <a:r>
              <a:rPr lang="en-US" dirty="0"/>
              <a:t> y </a:t>
            </a:r>
            <a:r>
              <a:rPr lang="en-US" dirty="0" err="1"/>
              <a:t>enfermedades</a:t>
            </a:r>
            <a:r>
              <a:rPr lang="en-US" dirty="0"/>
              <a:t>. </a:t>
            </a:r>
          </a:p>
          <a:p>
            <a:r>
              <a:rPr lang="en-US" dirty="0"/>
              <a:t>La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estrategia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evaluar</a:t>
            </a:r>
            <a:r>
              <a:rPr lang="en-US" dirty="0"/>
              <a:t> y </a:t>
            </a:r>
            <a:r>
              <a:rPr lang="en-US" dirty="0" err="1"/>
              <a:t>seleccionar</a:t>
            </a:r>
            <a:r>
              <a:rPr lang="en-US" dirty="0"/>
              <a:t> </a:t>
            </a:r>
            <a:r>
              <a:rPr lang="en-US" dirty="0" err="1"/>
              <a:t>esos</a:t>
            </a:r>
            <a:r>
              <a:rPr lang="en-US" dirty="0"/>
              <a:t> </a:t>
            </a:r>
            <a:r>
              <a:rPr lang="en-US" dirty="0" err="1"/>
              <a:t>caracteres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las </a:t>
            </a:r>
            <a:r>
              <a:rPr lang="en-US" dirty="0" err="1"/>
              <a:t>razas</a:t>
            </a:r>
            <a:r>
              <a:rPr lang="en-US" dirty="0"/>
              <a:t>, </a:t>
            </a:r>
            <a:r>
              <a:rPr lang="en-US" dirty="0" err="1"/>
              <a:t>ensambladas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compuestos</a:t>
            </a:r>
            <a:r>
              <a:rPr lang="en-US" dirty="0"/>
              <a:t> </a:t>
            </a:r>
            <a:r>
              <a:rPr lang="en-US" dirty="0" err="1"/>
              <a:t>raciales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350147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497539" y="2865438"/>
            <a:ext cx="3481388" cy="1325563"/>
          </a:xfrm>
        </p:spPr>
        <p:txBody>
          <a:bodyPr/>
          <a:lstStyle/>
          <a:p>
            <a:pPr algn="ctr"/>
            <a:r>
              <a:rPr lang="es-MX" b="1" dirty="0"/>
              <a:t>EL EFECTO ECOLOGICO</a:t>
            </a:r>
          </a:p>
        </p:txBody>
      </p:sp>
      <p:sp>
        <p:nvSpPr>
          <p:cNvPr id="48" name="Text Box 1"/>
          <p:cNvSpPr txBox="1">
            <a:spLocks noChangeArrowheads="1"/>
          </p:cNvSpPr>
          <p:nvPr/>
        </p:nvSpPr>
        <p:spPr bwMode="auto">
          <a:xfrm>
            <a:off x="1382713" y="765175"/>
            <a:ext cx="18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49" name="Line 2"/>
          <p:cNvSpPr>
            <a:spLocks noChangeShapeType="1"/>
          </p:cNvSpPr>
          <p:nvPr/>
        </p:nvSpPr>
        <p:spPr bwMode="auto">
          <a:xfrm>
            <a:off x="900113" y="0"/>
            <a:ext cx="1587" cy="6858000"/>
          </a:xfrm>
          <a:prstGeom prst="line">
            <a:avLst/>
          </a:prstGeom>
          <a:noFill/>
          <a:ln w="7632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50" name="Text Box 3"/>
          <p:cNvSpPr txBox="1">
            <a:spLocks noChangeArrowheads="1"/>
          </p:cNvSpPr>
          <p:nvPr/>
        </p:nvSpPr>
        <p:spPr bwMode="auto">
          <a:xfrm>
            <a:off x="0" y="5300663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3150</a:t>
            </a:r>
          </a:p>
        </p:txBody>
      </p:sp>
      <p:sp>
        <p:nvSpPr>
          <p:cNvPr id="51" name="Text Box 4"/>
          <p:cNvSpPr txBox="1">
            <a:spLocks noChangeArrowheads="1"/>
          </p:cNvSpPr>
          <p:nvPr/>
        </p:nvSpPr>
        <p:spPr bwMode="auto">
          <a:xfrm>
            <a:off x="0" y="4797425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3175</a:t>
            </a:r>
          </a:p>
        </p:txBody>
      </p:sp>
      <p:sp>
        <p:nvSpPr>
          <p:cNvPr id="52" name="Text Box 5"/>
          <p:cNvSpPr txBox="1">
            <a:spLocks noChangeArrowheads="1"/>
          </p:cNvSpPr>
          <p:nvPr/>
        </p:nvSpPr>
        <p:spPr bwMode="auto">
          <a:xfrm>
            <a:off x="0" y="2565400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3275</a:t>
            </a:r>
          </a:p>
        </p:txBody>
      </p:sp>
      <p:sp>
        <p:nvSpPr>
          <p:cNvPr id="53" name="Text Box 6"/>
          <p:cNvSpPr txBox="1">
            <a:spLocks noChangeArrowheads="1"/>
          </p:cNvSpPr>
          <p:nvPr/>
        </p:nvSpPr>
        <p:spPr bwMode="auto">
          <a:xfrm>
            <a:off x="0" y="3716338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3225</a:t>
            </a:r>
          </a:p>
        </p:txBody>
      </p:sp>
      <p:sp>
        <p:nvSpPr>
          <p:cNvPr id="54" name="Text Box 7"/>
          <p:cNvSpPr txBox="1">
            <a:spLocks noChangeArrowheads="1"/>
          </p:cNvSpPr>
          <p:nvPr/>
        </p:nvSpPr>
        <p:spPr bwMode="auto">
          <a:xfrm>
            <a:off x="0" y="1916113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3300</a:t>
            </a:r>
          </a:p>
        </p:txBody>
      </p:sp>
      <p:sp>
        <p:nvSpPr>
          <p:cNvPr id="55" name="Text Box 8"/>
          <p:cNvSpPr txBox="1">
            <a:spLocks noChangeArrowheads="1"/>
          </p:cNvSpPr>
          <p:nvPr/>
        </p:nvSpPr>
        <p:spPr bwMode="auto">
          <a:xfrm>
            <a:off x="0" y="1341438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3325</a:t>
            </a:r>
          </a:p>
        </p:txBody>
      </p:sp>
      <p:sp>
        <p:nvSpPr>
          <p:cNvPr id="56" name="Text Box 9"/>
          <p:cNvSpPr txBox="1">
            <a:spLocks noChangeArrowheads="1"/>
          </p:cNvSpPr>
          <p:nvPr/>
        </p:nvSpPr>
        <p:spPr bwMode="auto">
          <a:xfrm>
            <a:off x="0" y="4221163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3200</a:t>
            </a:r>
          </a:p>
        </p:txBody>
      </p:sp>
      <p:sp>
        <p:nvSpPr>
          <p:cNvPr id="57" name="Text Box 10"/>
          <p:cNvSpPr txBox="1">
            <a:spLocks noChangeArrowheads="1"/>
          </p:cNvSpPr>
          <p:nvPr/>
        </p:nvSpPr>
        <p:spPr bwMode="auto">
          <a:xfrm>
            <a:off x="0" y="620713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3350</a:t>
            </a:r>
          </a:p>
        </p:txBody>
      </p:sp>
      <p:sp>
        <p:nvSpPr>
          <p:cNvPr id="58" name="Text Box 11"/>
          <p:cNvSpPr txBox="1">
            <a:spLocks noChangeArrowheads="1"/>
          </p:cNvSpPr>
          <p:nvPr/>
        </p:nvSpPr>
        <p:spPr bwMode="auto">
          <a:xfrm>
            <a:off x="0" y="0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3375</a:t>
            </a:r>
          </a:p>
        </p:txBody>
      </p:sp>
      <p:pic>
        <p:nvPicPr>
          <p:cNvPr id="59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12" r="20540"/>
          <a:stretch>
            <a:fillRect/>
          </a:stretch>
        </p:blipFill>
        <p:spPr bwMode="auto">
          <a:xfrm>
            <a:off x="971550" y="5503863"/>
            <a:ext cx="792163" cy="1354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9012" r="2054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0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935" r="81001"/>
          <a:stretch>
            <a:fillRect/>
          </a:stretch>
        </p:blipFill>
        <p:spPr bwMode="auto">
          <a:xfrm>
            <a:off x="1763713" y="4797425"/>
            <a:ext cx="661987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-9935" r="8100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1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182"/>
          <a:stretch>
            <a:fillRect/>
          </a:stretch>
        </p:blipFill>
        <p:spPr bwMode="auto">
          <a:xfrm>
            <a:off x="2411413" y="4365625"/>
            <a:ext cx="615950" cy="156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8218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2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185" t="9583" r="18896"/>
          <a:stretch>
            <a:fillRect/>
          </a:stretch>
        </p:blipFill>
        <p:spPr bwMode="auto">
          <a:xfrm>
            <a:off x="3005138" y="3860800"/>
            <a:ext cx="793750" cy="151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63185" t="9583" r="18896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3" name="Picture 1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50" r="18188"/>
          <a:stretch>
            <a:fillRect/>
          </a:stretch>
        </p:blipFill>
        <p:spPr bwMode="auto">
          <a:xfrm>
            <a:off x="3779838" y="3357563"/>
            <a:ext cx="844550" cy="124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6850" r="1818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4" name="Picture 1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78" t="10464" r="28581"/>
          <a:stretch>
            <a:fillRect/>
          </a:stretch>
        </p:blipFill>
        <p:spPr bwMode="auto">
          <a:xfrm>
            <a:off x="4572000" y="2781300"/>
            <a:ext cx="922338" cy="1116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6378" t="10464" r="2858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5" name="Picture 1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8" t="5424" r="24487"/>
          <a:stretch>
            <a:fillRect/>
          </a:stretch>
        </p:blipFill>
        <p:spPr bwMode="auto">
          <a:xfrm>
            <a:off x="5508625" y="1989138"/>
            <a:ext cx="985838" cy="1079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6928" t="5424" r="2448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6" name="Picture 1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85" t="15353" r="27559"/>
          <a:stretch>
            <a:fillRect/>
          </a:stretch>
        </p:blipFill>
        <p:spPr bwMode="auto">
          <a:xfrm>
            <a:off x="6443663" y="1196975"/>
            <a:ext cx="1054100" cy="1100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7485" t="15353" r="2755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7" name="Picture 2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02" t="10994" r="39688"/>
          <a:stretch>
            <a:fillRect/>
          </a:stretch>
        </p:blipFill>
        <p:spPr bwMode="auto">
          <a:xfrm>
            <a:off x="7451725" y="692150"/>
            <a:ext cx="781050" cy="1185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38902" t="10994" r="3968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8" name="Picture 2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3" t="-10823" r="62660"/>
          <a:stretch>
            <a:fillRect/>
          </a:stretch>
        </p:blipFill>
        <p:spPr bwMode="auto">
          <a:xfrm>
            <a:off x="8172450" y="0"/>
            <a:ext cx="69850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7873" t="-10823" r="6266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9" name="Text Box 22"/>
          <p:cNvSpPr txBox="1">
            <a:spLocks noChangeArrowheads="1"/>
          </p:cNvSpPr>
          <p:nvPr/>
        </p:nvSpPr>
        <p:spPr bwMode="auto">
          <a:xfrm>
            <a:off x="1763713" y="6381750"/>
            <a:ext cx="27368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Piscorunto</a:t>
            </a:r>
            <a:r>
              <a:rPr lang="en-GB" altLang="es-MX" sz="1600" b="1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70" name="Text Box 23"/>
          <p:cNvSpPr txBox="1">
            <a:spLocks noChangeArrowheads="1"/>
          </p:cNvSpPr>
          <p:nvPr/>
        </p:nvSpPr>
        <p:spPr bwMode="auto">
          <a:xfrm>
            <a:off x="2411413" y="5949950"/>
            <a:ext cx="1800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Morocho</a:t>
            </a:r>
          </a:p>
        </p:txBody>
      </p:sp>
      <p:sp>
        <p:nvSpPr>
          <p:cNvPr id="71" name="Text Box 24"/>
          <p:cNvSpPr txBox="1">
            <a:spLocks noChangeArrowheads="1"/>
          </p:cNvSpPr>
          <p:nvPr/>
        </p:nvSpPr>
        <p:spPr bwMode="auto">
          <a:xfrm>
            <a:off x="3059113" y="5516563"/>
            <a:ext cx="18002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Cuzco</a:t>
            </a:r>
          </a:p>
        </p:txBody>
      </p:sp>
      <p:sp>
        <p:nvSpPr>
          <p:cNvPr id="72" name="Text Box 25"/>
          <p:cNvSpPr txBox="1">
            <a:spLocks noChangeArrowheads="1"/>
          </p:cNvSpPr>
          <p:nvPr/>
        </p:nvSpPr>
        <p:spPr bwMode="auto">
          <a:xfrm>
            <a:off x="3779838" y="4724400"/>
            <a:ext cx="2447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Confite</a:t>
            </a:r>
            <a:r>
              <a:rPr lang="en-GB" altLang="es-MX" sz="1600" b="1">
                <a:solidFill>
                  <a:srgbClr val="FFFFFF"/>
                </a:solidFill>
              </a:rPr>
              <a:t> </a:t>
            </a:r>
            <a:r>
              <a:rPr lang="en-GB" altLang="es-MX" sz="1600" b="1">
                <a:solidFill>
                  <a:srgbClr val="006600"/>
                </a:solidFill>
              </a:rPr>
              <a:t>Punteagudo</a:t>
            </a:r>
          </a:p>
        </p:txBody>
      </p:sp>
      <p:sp>
        <p:nvSpPr>
          <p:cNvPr id="73" name="Text Box 26"/>
          <p:cNvSpPr txBox="1">
            <a:spLocks noChangeArrowheads="1"/>
          </p:cNvSpPr>
          <p:nvPr/>
        </p:nvSpPr>
        <p:spPr bwMode="auto">
          <a:xfrm>
            <a:off x="4643438" y="4149725"/>
            <a:ext cx="2447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Huancavelicano</a:t>
            </a:r>
          </a:p>
        </p:txBody>
      </p:sp>
      <p:sp>
        <p:nvSpPr>
          <p:cNvPr id="74" name="Text Box 27"/>
          <p:cNvSpPr txBox="1">
            <a:spLocks noChangeArrowheads="1"/>
          </p:cNvSpPr>
          <p:nvPr/>
        </p:nvSpPr>
        <p:spPr bwMode="auto">
          <a:xfrm>
            <a:off x="3924300" y="2565400"/>
            <a:ext cx="2447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Paro</a:t>
            </a:r>
          </a:p>
        </p:txBody>
      </p:sp>
      <p:sp>
        <p:nvSpPr>
          <p:cNvPr id="75" name="Text Box 28"/>
          <p:cNvSpPr txBox="1">
            <a:spLocks noChangeArrowheads="1"/>
          </p:cNvSpPr>
          <p:nvPr/>
        </p:nvSpPr>
        <p:spPr bwMode="auto">
          <a:xfrm>
            <a:off x="3995738" y="1916113"/>
            <a:ext cx="2447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San</a:t>
            </a:r>
            <a:r>
              <a:rPr lang="en-GB" altLang="es-MX" sz="1600" b="1">
                <a:solidFill>
                  <a:srgbClr val="FFFFFF"/>
                </a:solidFill>
              </a:rPr>
              <a:t> </a:t>
            </a:r>
            <a:r>
              <a:rPr lang="en-GB" altLang="es-MX" sz="1600" b="1">
                <a:solidFill>
                  <a:srgbClr val="006600"/>
                </a:solidFill>
              </a:rPr>
              <a:t>Geronimo</a:t>
            </a:r>
          </a:p>
        </p:txBody>
      </p:sp>
      <p:sp>
        <p:nvSpPr>
          <p:cNvPr id="76" name="Text Box 29"/>
          <p:cNvSpPr txBox="1">
            <a:spLocks noChangeArrowheads="1"/>
          </p:cNvSpPr>
          <p:nvPr/>
        </p:nvSpPr>
        <p:spPr bwMode="auto">
          <a:xfrm>
            <a:off x="5364163" y="1196975"/>
            <a:ext cx="2447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Granada</a:t>
            </a:r>
          </a:p>
        </p:txBody>
      </p:sp>
      <p:sp>
        <p:nvSpPr>
          <p:cNvPr id="77" name="Text Box 30"/>
          <p:cNvSpPr txBox="1">
            <a:spLocks noChangeArrowheads="1"/>
          </p:cNvSpPr>
          <p:nvPr/>
        </p:nvSpPr>
        <p:spPr bwMode="auto">
          <a:xfrm>
            <a:off x="6443663" y="620713"/>
            <a:ext cx="24479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Chullpi</a:t>
            </a:r>
          </a:p>
        </p:txBody>
      </p:sp>
      <p:sp>
        <p:nvSpPr>
          <p:cNvPr id="78" name="Text Box 31"/>
          <p:cNvSpPr txBox="1">
            <a:spLocks noChangeArrowheads="1"/>
          </p:cNvSpPr>
          <p:nvPr/>
        </p:nvSpPr>
        <p:spPr bwMode="auto">
          <a:xfrm>
            <a:off x="5003800" y="0"/>
            <a:ext cx="3816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  <a:buClr>
                <a:srgbClr val="006600"/>
              </a:buClr>
              <a:buFont typeface="Arial" panose="020B0604020202020204" pitchFamily="34" charset="0"/>
              <a:buNone/>
            </a:pPr>
            <a:r>
              <a:rPr lang="en-GB" altLang="es-MX" sz="1600" b="1">
                <a:solidFill>
                  <a:srgbClr val="006600"/>
                </a:solidFill>
              </a:rPr>
              <a:t>San</a:t>
            </a:r>
            <a:r>
              <a:rPr lang="en-GB" altLang="es-MX" sz="1600" b="1">
                <a:solidFill>
                  <a:srgbClr val="FFFFFF"/>
                </a:solidFill>
              </a:rPr>
              <a:t> </a:t>
            </a:r>
            <a:r>
              <a:rPr lang="en-GB" altLang="es-MX" sz="1600" b="1">
                <a:solidFill>
                  <a:srgbClr val="006600"/>
                </a:solidFill>
              </a:rPr>
              <a:t>Gernimo</a:t>
            </a:r>
            <a:r>
              <a:rPr lang="en-GB" altLang="es-MX" sz="1600" b="1">
                <a:solidFill>
                  <a:srgbClr val="FFFFFF"/>
                </a:solidFill>
              </a:rPr>
              <a:t> </a:t>
            </a:r>
            <a:r>
              <a:rPr lang="en-GB" altLang="es-MX" sz="1600" b="1">
                <a:solidFill>
                  <a:srgbClr val="006600"/>
                </a:solidFill>
              </a:rPr>
              <a:t>Huancavelicano</a:t>
            </a:r>
          </a:p>
        </p:txBody>
      </p:sp>
      <p:sp>
        <p:nvSpPr>
          <p:cNvPr id="79" name="Text Box 32"/>
          <p:cNvSpPr txBox="1">
            <a:spLocks noChangeArrowheads="1"/>
          </p:cNvSpPr>
          <p:nvPr/>
        </p:nvSpPr>
        <p:spPr bwMode="auto">
          <a:xfrm rot="16200000">
            <a:off x="-273843" y="2891631"/>
            <a:ext cx="280828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125"/>
              </a:spcBef>
              <a:buClr>
                <a:srgbClr val="FF0000"/>
              </a:buClr>
              <a:buFont typeface="Arial" panose="020B0604020202020204" pitchFamily="34" charset="0"/>
              <a:buNone/>
            </a:pPr>
            <a:r>
              <a:rPr lang="en-GB" altLang="es-MX" b="1" dirty="0">
                <a:solidFill>
                  <a:srgbClr val="FF0000"/>
                </a:solidFill>
              </a:rPr>
              <a:t>Metros</a:t>
            </a:r>
            <a:r>
              <a:rPr lang="en-GB" altLang="es-MX" sz="1800" dirty="0">
                <a:solidFill>
                  <a:srgbClr val="FFFF00"/>
                </a:solidFill>
              </a:rPr>
              <a:t> </a:t>
            </a:r>
            <a:r>
              <a:rPr lang="en-GB" altLang="es-MX" b="1" dirty="0">
                <a:solidFill>
                  <a:srgbClr val="FF0000"/>
                </a:solidFill>
              </a:rPr>
              <a:t>de</a:t>
            </a:r>
            <a:r>
              <a:rPr lang="en-GB" altLang="es-MX" sz="1800" dirty="0">
                <a:solidFill>
                  <a:srgbClr val="FFFF00"/>
                </a:solidFill>
              </a:rPr>
              <a:t> </a:t>
            </a:r>
            <a:r>
              <a:rPr lang="en-GB" altLang="es-MX" b="1" dirty="0" err="1">
                <a:solidFill>
                  <a:srgbClr val="FF0000"/>
                </a:solidFill>
              </a:rPr>
              <a:t>altitud</a:t>
            </a:r>
            <a:r>
              <a:rPr lang="en-GB" altLang="es-MX" sz="1800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80" name="Line 33"/>
          <p:cNvSpPr>
            <a:spLocks noChangeShapeType="1"/>
          </p:cNvSpPr>
          <p:nvPr/>
        </p:nvSpPr>
        <p:spPr bwMode="auto">
          <a:xfrm>
            <a:off x="684213" y="5516563"/>
            <a:ext cx="287337" cy="1587"/>
          </a:xfrm>
          <a:prstGeom prst="line">
            <a:avLst/>
          </a:prstGeom>
          <a:noFill/>
          <a:ln w="12600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81" name="Line 34"/>
          <p:cNvSpPr>
            <a:spLocks noChangeShapeType="1"/>
          </p:cNvSpPr>
          <p:nvPr/>
        </p:nvSpPr>
        <p:spPr bwMode="auto">
          <a:xfrm>
            <a:off x="684213" y="4941888"/>
            <a:ext cx="935037" cy="1587"/>
          </a:xfrm>
          <a:prstGeom prst="line">
            <a:avLst/>
          </a:prstGeom>
          <a:noFill/>
          <a:ln w="12600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82" name="Line 35"/>
          <p:cNvSpPr>
            <a:spLocks noChangeShapeType="1"/>
          </p:cNvSpPr>
          <p:nvPr/>
        </p:nvSpPr>
        <p:spPr bwMode="auto">
          <a:xfrm>
            <a:off x="755650" y="4437063"/>
            <a:ext cx="1584325" cy="1587"/>
          </a:xfrm>
          <a:prstGeom prst="line">
            <a:avLst/>
          </a:prstGeom>
          <a:noFill/>
          <a:ln w="12600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83" name="Line 36"/>
          <p:cNvSpPr>
            <a:spLocks noChangeShapeType="1"/>
          </p:cNvSpPr>
          <p:nvPr/>
        </p:nvSpPr>
        <p:spPr bwMode="auto">
          <a:xfrm>
            <a:off x="755650" y="3933825"/>
            <a:ext cx="2303463" cy="1588"/>
          </a:xfrm>
          <a:prstGeom prst="line">
            <a:avLst/>
          </a:prstGeom>
          <a:noFill/>
          <a:ln w="12600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84" name="Line 37"/>
          <p:cNvSpPr>
            <a:spLocks noChangeShapeType="1"/>
          </p:cNvSpPr>
          <p:nvPr/>
        </p:nvSpPr>
        <p:spPr bwMode="auto">
          <a:xfrm>
            <a:off x="755650" y="3357563"/>
            <a:ext cx="2879725" cy="1587"/>
          </a:xfrm>
          <a:prstGeom prst="line">
            <a:avLst/>
          </a:prstGeom>
          <a:noFill/>
          <a:ln w="12600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85" name="Line 38"/>
          <p:cNvSpPr>
            <a:spLocks noChangeShapeType="1"/>
          </p:cNvSpPr>
          <p:nvPr/>
        </p:nvSpPr>
        <p:spPr bwMode="auto">
          <a:xfrm>
            <a:off x="755650" y="2781300"/>
            <a:ext cx="3168650" cy="1588"/>
          </a:xfrm>
          <a:prstGeom prst="line">
            <a:avLst/>
          </a:prstGeom>
          <a:noFill/>
          <a:ln w="1260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86" name="Line 39"/>
          <p:cNvSpPr>
            <a:spLocks noChangeShapeType="1"/>
          </p:cNvSpPr>
          <p:nvPr/>
        </p:nvSpPr>
        <p:spPr bwMode="auto">
          <a:xfrm>
            <a:off x="755650" y="2133600"/>
            <a:ext cx="3240088" cy="1588"/>
          </a:xfrm>
          <a:prstGeom prst="line">
            <a:avLst/>
          </a:prstGeom>
          <a:noFill/>
          <a:ln w="12600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87" name="Line 40"/>
          <p:cNvSpPr>
            <a:spLocks noChangeShapeType="1"/>
          </p:cNvSpPr>
          <p:nvPr/>
        </p:nvSpPr>
        <p:spPr bwMode="auto">
          <a:xfrm>
            <a:off x="755650" y="1484313"/>
            <a:ext cx="4464050" cy="1587"/>
          </a:xfrm>
          <a:prstGeom prst="line">
            <a:avLst/>
          </a:prstGeom>
          <a:noFill/>
          <a:ln w="12600">
            <a:solidFill>
              <a:srgbClr val="0099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88" name="Line 41"/>
          <p:cNvSpPr>
            <a:spLocks noChangeShapeType="1"/>
          </p:cNvSpPr>
          <p:nvPr/>
        </p:nvSpPr>
        <p:spPr bwMode="auto">
          <a:xfrm>
            <a:off x="755650" y="836613"/>
            <a:ext cx="5688013" cy="1587"/>
          </a:xfrm>
          <a:prstGeom prst="line">
            <a:avLst/>
          </a:prstGeom>
          <a:noFill/>
          <a:ln w="12600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89" name="Line 42"/>
          <p:cNvSpPr>
            <a:spLocks noChangeShapeType="1"/>
          </p:cNvSpPr>
          <p:nvPr/>
        </p:nvSpPr>
        <p:spPr bwMode="auto">
          <a:xfrm>
            <a:off x="755650" y="188913"/>
            <a:ext cx="4321175" cy="1587"/>
          </a:xfrm>
          <a:prstGeom prst="line">
            <a:avLst/>
          </a:prstGeom>
          <a:noFill/>
          <a:ln w="12600">
            <a:solidFill>
              <a:srgbClr val="00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90" name="Text Box 43"/>
          <p:cNvSpPr txBox="1">
            <a:spLocks noChangeArrowheads="1"/>
          </p:cNvSpPr>
          <p:nvPr/>
        </p:nvSpPr>
        <p:spPr bwMode="auto">
          <a:xfrm>
            <a:off x="0" y="3141663"/>
            <a:ext cx="12239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1pPr>
            <a:lvl2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2pPr>
            <a:lvl3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3pPr>
            <a:lvl4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4pPr>
            <a:lvl5pP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5pPr>
            <a:lvl6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6pPr>
            <a:lvl7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7pPr>
            <a:lvl8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8pPr>
            <a:lvl9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Times New Roman" panose="02020603050405020304" pitchFamily="18" charset="0"/>
                <a:cs typeface="Arial Unicode MS" panose="020B0604020202020204" pitchFamily="34" charset="-128"/>
              </a:defRPr>
            </a:lvl9pPr>
          </a:lstStyle>
          <a:p>
            <a:pPr>
              <a:spcBef>
                <a:spcPts val="1000"/>
              </a:spcBef>
            </a:pPr>
            <a:r>
              <a:rPr lang="en-GB" altLang="es-MX" sz="1600" b="1"/>
              <a:t>3250</a:t>
            </a:r>
          </a:p>
        </p:txBody>
      </p:sp>
      <p:pic>
        <p:nvPicPr>
          <p:cNvPr id="91" name="Picture 4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5734050"/>
            <a:ext cx="836612" cy="90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937201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CONVERGENCIA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/>
              <a:t>Según</a:t>
            </a:r>
            <a:r>
              <a:rPr lang="en-US" dirty="0"/>
              <a:t> </a:t>
            </a:r>
            <a:r>
              <a:rPr lang="en-US" dirty="0" err="1"/>
              <a:t>Mayr</a:t>
            </a:r>
            <a:r>
              <a:rPr lang="en-US" dirty="0"/>
              <a:t> (1970), </a:t>
            </a:r>
            <a:r>
              <a:rPr lang="en-US" dirty="0" err="1"/>
              <a:t>cuando</a:t>
            </a:r>
            <a:r>
              <a:rPr lang="en-US" dirty="0"/>
              <a:t> no hay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herencia</a:t>
            </a:r>
            <a:r>
              <a:rPr lang="en-US" dirty="0"/>
              <a:t> </a:t>
            </a:r>
            <a:r>
              <a:rPr lang="en-US" dirty="0" err="1"/>
              <a:t>común</a:t>
            </a:r>
            <a:r>
              <a:rPr lang="en-US" dirty="0"/>
              <a:t>, el </a:t>
            </a:r>
            <a:r>
              <a:rPr lang="en-US" dirty="0" err="1"/>
              <a:t>paralelislo</a:t>
            </a:r>
            <a:r>
              <a:rPr lang="en-US" dirty="0"/>
              <a:t> </a:t>
            </a:r>
            <a:r>
              <a:rPr lang="en-US" dirty="0" err="1"/>
              <a:t>evolutivo</a:t>
            </a:r>
            <a:r>
              <a:rPr lang="en-US" dirty="0"/>
              <a:t> (</a:t>
            </a:r>
            <a:r>
              <a:rPr lang="en-US" dirty="0" err="1"/>
              <a:t>respuesta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población</a:t>
            </a:r>
            <a:r>
              <a:rPr lang="en-US" dirty="0"/>
              <a:t> a las </a:t>
            </a:r>
            <a:r>
              <a:rPr lang="en-US" dirty="0" err="1"/>
              <a:t>demandas</a:t>
            </a:r>
            <a:r>
              <a:rPr lang="en-US" dirty="0"/>
              <a:t> </a:t>
            </a:r>
            <a:r>
              <a:rPr lang="en-US" dirty="0" err="1"/>
              <a:t>ambientales</a:t>
            </a:r>
            <a:r>
              <a:rPr lang="en-US" dirty="0"/>
              <a:t>) se </a:t>
            </a:r>
            <a:r>
              <a:rPr lang="en-US" dirty="0" err="1"/>
              <a:t>denomina</a:t>
            </a:r>
            <a:r>
              <a:rPr lang="en-US" dirty="0"/>
              <a:t> “</a:t>
            </a:r>
            <a:r>
              <a:rPr lang="en-US" dirty="0" err="1"/>
              <a:t>convergencia</a:t>
            </a:r>
            <a:r>
              <a:rPr lang="en-US" dirty="0"/>
              <a:t>”.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, el </a:t>
            </a:r>
            <a:r>
              <a:rPr lang="en-US" dirty="0" err="1"/>
              <a:t>Confite</a:t>
            </a:r>
            <a:r>
              <a:rPr lang="en-US" dirty="0"/>
              <a:t> </a:t>
            </a:r>
            <a:r>
              <a:rPr lang="en-US" dirty="0" err="1"/>
              <a:t>Morocho</a:t>
            </a:r>
            <a:r>
              <a:rPr lang="en-US" dirty="0"/>
              <a:t>, el </a:t>
            </a:r>
            <a:r>
              <a:rPr lang="en-US" dirty="0" err="1"/>
              <a:t>Enano</a:t>
            </a:r>
            <a:r>
              <a:rPr lang="en-US" dirty="0"/>
              <a:t> y el </a:t>
            </a:r>
            <a:r>
              <a:rPr lang="en-US" dirty="0" err="1"/>
              <a:t>Confite</a:t>
            </a:r>
            <a:r>
              <a:rPr lang="en-US" dirty="0"/>
              <a:t> </a:t>
            </a:r>
            <a:r>
              <a:rPr lang="en-US" dirty="0" err="1"/>
              <a:t>puneño</a:t>
            </a:r>
            <a:r>
              <a:rPr lang="en-US" dirty="0"/>
              <a:t> son </a:t>
            </a:r>
            <a:r>
              <a:rPr lang="en-US" dirty="0" err="1"/>
              <a:t>parecidos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no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</a:t>
            </a:r>
            <a:r>
              <a:rPr lang="en-US" dirty="0" err="1"/>
              <a:t>filogenética</a:t>
            </a:r>
            <a:r>
              <a:rPr lang="en-US" dirty="0"/>
              <a:t> </a:t>
            </a:r>
            <a:r>
              <a:rPr lang="en-US" dirty="0" err="1"/>
              <a:t>estrecha</a:t>
            </a:r>
            <a:r>
              <a:rPr lang="en-US" dirty="0"/>
              <a:t>. 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convergencia</a:t>
            </a:r>
            <a:r>
              <a:rPr lang="en-US" dirty="0"/>
              <a:t> hay </a:t>
            </a:r>
            <a:r>
              <a:rPr lang="en-US" dirty="0" err="1"/>
              <a:t>razas</a:t>
            </a:r>
            <a:r>
              <a:rPr lang="en-US" dirty="0"/>
              <a:t> que son </a:t>
            </a:r>
            <a:r>
              <a:rPr lang="en-US" dirty="0" err="1"/>
              <a:t>parecidas</a:t>
            </a:r>
            <a:r>
              <a:rPr lang="en-US" dirty="0"/>
              <a:t> </a:t>
            </a:r>
            <a:r>
              <a:rPr lang="en-US" dirty="0" err="1"/>
              <a:t>aunque</a:t>
            </a:r>
            <a:r>
              <a:rPr lang="en-US" dirty="0"/>
              <a:t> son </a:t>
            </a:r>
            <a:r>
              <a:rPr lang="en-US" dirty="0" err="1"/>
              <a:t>genéticamente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.   </a:t>
            </a:r>
          </a:p>
          <a:p>
            <a:r>
              <a:rPr lang="en-US" dirty="0" err="1"/>
              <a:t>Genotipos</a:t>
            </a:r>
            <a:r>
              <a:rPr lang="en-US" dirty="0"/>
              <a:t> </a:t>
            </a:r>
            <a:r>
              <a:rPr lang="en-US" dirty="0" err="1"/>
              <a:t>distintos</a:t>
            </a:r>
            <a:r>
              <a:rPr lang="en-US" dirty="0"/>
              <a:t> </a:t>
            </a: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el </a:t>
            </a:r>
            <a:r>
              <a:rPr lang="en-US" dirty="0" err="1"/>
              <a:t>mismo</a:t>
            </a:r>
            <a:r>
              <a:rPr lang="en-US" dirty="0"/>
              <a:t> valor selective,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character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gobernado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cuatro</a:t>
            </a:r>
            <a:r>
              <a:rPr lang="en-US" dirty="0"/>
              <a:t> genes </a:t>
            </a:r>
            <a:r>
              <a:rPr lang="en-US" dirty="0" err="1"/>
              <a:t>cuantitativos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genotipos</a:t>
            </a:r>
            <a:r>
              <a:rPr lang="en-US" dirty="0"/>
              <a:t> </a:t>
            </a:r>
            <a:r>
              <a:rPr lang="en-US" dirty="0" err="1"/>
              <a:t>AABBccdd</a:t>
            </a:r>
            <a:r>
              <a:rPr lang="en-US" dirty="0"/>
              <a:t> y </a:t>
            </a:r>
            <a:r>
              <a:rPr lang="en-US" dirty="0" err="1"/>
              <a:t>aabbCCDD</a:t>
            </a:r>
            <a:r>
              <a:rPr lang="en-US" dirty="0"/>
              <a:t> son </a:t>
            </a:r>
            <a:r>
              <a:rPr lang="en-US" dirty="0" err="1"/>
              <a:t>fenotípicamente</a:t>
            </a:r>
            <a:r>
              <a:rPr lang="en-US" dirty="0"/>
              <a:t> </a:t>
            </a:r>
            <a:r>
              <a:rPr lang="en-US" dirty="0" err="1"/>
              <a:t>iguales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genotípicamente</a:t>
            </a:r>
            <a:r>
              <a:rPr lang="en-US" dirty="0"/>
              <a:t> </a:t>
            </a:r>
            <a:r>
              <a:rPr lang="en-US" dirty="0" err="1"/>
              <a:t>desiguales</a:t>
            </a:r>
            <a:r>
              <a:rPr lang="en-US" dirty="0"/>
              <a:t>. </a:t>
            </a:r>
          </a:p>
          <a:p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poblaciones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las de </a:t>
            </a:r>
            <a:r>
              <a:rPr lang="en-US" dirty="0" err="1"/>
              <a:t>maíz</a:t>
            </a:r>
            <a:r>
              <a:rPr lang="en-US" dirty="0"/>
              <a:t> la </a:t>
            </a:r>
            <a:r>
              <a:rPr lang="en-US" dirty="0" err="1"/>
              <a:t>variancia</a:t>
            </a:r>
            <a:r>
              <a:rPr lang="en-US" dirty="0"/>
              <a:t> para </a:t>
            </a:r>
            <a:r>
              <a:rPr lang="en-US" dirty="0" err="1"/>
              <a:t>caracteres</a:t>
            </a:r>
            <a:r>
              <a:rPr lang="en-US" dirty="0"/>
              <a:t> simples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grande</a:t>
            </a:r>
            <a:r>
              <a:rPr lang="en-US" dirty="0"/>
              <a:t>,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ejemplo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</a:t>
            </a:r>
            <a:r>
              <a:rPr lang="en-US" dirty="0" err="1"/>
              <a:t>caracterer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gobernado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10 genes simples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uno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cromosoma</a:t>
            </a:r>
            <a:r>
              <a:rPr lang="en-US" dirty="0"/>
              <a:t> </a:t>
            </a:r>
            <a:r>
              <a:rPr lang="en-US" dirty="0" err="1"/>
              <a:t>diferente</a:t>
            </a:r>
            <a:r>
              <a:rPr lang="en-US" dirty="0"/>
              <a:t>, el </a:t>
            </a:r>
            <a:r>
              <a:rPr lang="en-US" dirty="0" err="1"/>
              <a:t>número</a:t>
            </a:r>
            <a:r>
              <a:rPr lang="en-US" dirty="0"/>
              <a:t> de pares </a:t>
            </a:r>
            <a:r>
              <a:rPr lang="en-US" dirty="0" err="1"/>
              <a:t>heterocigotas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10, el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gametos</a:t>
            </a:r>
            <a:r>
              <a:rPr lang="en-US" dirty="0"/>
              <a:t> </a:t>
            </a:r>
            <a:r>
              <a:rPr lang="en-US" dirty="0" err="1"/>
              <a:t>distintos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1,024 y el </a:t>
            </a:r>
            <a:r>
              <a:rPr lang="en-US" dirty="0" err="1"/>
              <a:t>número</a:t>
            </a:r>
            <a:r>
              <a:rPr lang="en-US" dirty="0"/>
              <a:t> de </a:t>
            </a:r>
            <a:r>
              <a:rPr lang="en-US" dirty="0" err="1"/>
              <a:t>combinaciones</a:t>
            </a:r>
            <a:r>
              <a:rPr lang="en-US" dirty="0"/>
              <a:t> </a:t>
            </a:r>
            <a:r>
              <a:rPr lang="en-US" dirty="0" err="1"/>
              <a:t>genéticas</a:t>
            </a:r>
            <a:r>
              <a:rPr lang="en-US" dirty="0"/>
              <a:t> </a:t>
            </a:r>
            <a:r>
              <a:rPr lang="en-US" dirty="0" err="1"/>
              <a:t>posibles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1´048,576.     </a:t>
            </a:r>
          </a:p>
        </p:txBody>
      </p:sp>
    </p:spTree>
    <p:extLst>
      <p:ext uri="{BB962C8B-B14F-4D97-AF65-F5344CB8AC3E}">
        <p14:creationId xmlns:p14="http://schemas.microsoft.com/office/powerpoint/2010/main" val="10098316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LAS DIFERENCIAS CULTURALES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Siempre</a:t>
            </a:r>
            <a:r>
              <a:rPr lang="en-US" dirty="0"/>
              <a:t> se </a:t>
            </a:r>
            <a:r>
              <a:rPr lang="en-US" dirty="0" err="1"/>
              <a:t>consideró</a:t>
            </a:r>
            <a:r>
              <a:rPr lang="en-US" dirty="0"/>
              <a:t> </a:t>
            </a:r>
            <a:r>
              <a:rPr lang="en-US" dirty="0" err="1"/>
              <a:t>importante</a:t>
            </a:r>
            <a:r>
              <a:rPr lang="en-US" dirty="0"/>
              <a:t> el </a:t>
            </a:r>
            <a:r>
              <a:rPr lang="en-US" dirty="0" err="1"/>
              <a:t>componente</a:t>
            </a:r>
            <a:r>
              <a:rPr lang="en-US" dirty="0"/>
              <a:t> cultural,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difícil</a:t>
            </a:r>
            <a:r>
              <a:rPr lang="en-US" dirty="0"/>
              <a:t> de </a:t>
            </a:r>
            <a:r>
              <a:rPr lang="en-US" dirty="0" err="1"/>
              <a:t>evaluar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la gran </a:t>
            </a:r>
            <a:r>
              <a:rPr lang="en-US" dirty="0" err="1"/>
              <a:t>dispersión</a:t>
            </a:r>
            <a:r>
              <a:rPr lang="en-US" dirty="0"/>
              <a:t> de ideas con </a:t>
            </a:r>
            <a:r>
              <a:rPr lang="en-US" dirty="0" err="1"/>
              <a:t>relación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buenos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</a:t>
            </a:r>
            <a:r>
              <a:rPr lang="en-US" dirty="0" err="1"/>
              <a:t>específicos</a:t>
            </a:r>
            <a:r>
              <a:rPr lang="en-US" dirty="0"/>
              <a:t> de las </a:t>
            </a:r>
            <a:r>
              <a:rPr lang="en-US" dirty="0" err="1"/>
              <a:t>variedades</a:t>
            </a:r>
            <a:r>
              <a:rPr lang="en-US" dirty="0"/>
              <a:t> </a:t>
            </a:r>
            <a:r>
              <a:rPr lang="en-US" dirty="0" err="1"/>
              <a:t>nativas</a:t>
            </a:r>
            <a:r>
              <a:rPr lang="en-US" dirty="0"/>
              <a:t>. </a:t>
            </a:r>
          </a:p>
          <a:p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año</a:t>
            </a:r>
            <a:r>
              <a:rPr lang="en-US" dirty="0"/>
              <a:t> 2002 Blas y </a:t>
            </a:r>
            <a:r>
              <a:rPr lang="en-US" dirty="0" err="1"/>
              <a:t>colaboradores</a:t>
            </a:r>
            <a:r>
              <a:rPr lang="en-US" dirty="0"/>
              <a:t> </a:t>
            </a:r>
            <a:r>
              <a:rPr lang="en-US" dirty="0" err="1"/>
              <a:t>publicaron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Simposio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 </a:t>
            </a:r>
            <a:r>
              <a:rPr lang="en-US" dirty="0" err="1"/>
              <a:t>Mejoramiento</a:t>
            </a:r>
            <a:r>
              <a:rPr lang="en-US" dirty="0"/>
              <a:t> </a:t>
            </a:r>
            <a:r>
              <a:rPr lang="en-US" dirty="0" err="1"/>
              <a:t>Genético</a:t>
            </a:r>
            <a:r>
              <a:rPr lang="en-US" dirty="0"/>
              <a:t> de </a:t>
            </a:r>
            <a:r>
              <a:rPr lang="en-US" dirty="0" err="1"/>
              <a:t>Plantas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Perú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resultados</a:t>
            </a:r>
            <a:r>
              <a:rPr lang="en-US" dirty="0"/>
              <a:t> de la </a:t>
            </a:r>
            <a:r>
              <a:rPr lang="en-US" dirty="0" err="1"/>
              <a:t>clasificación</a:t>
            </a:r>
            <a:r>
              <a:rPr lang="en-US" dirty="0"/>
              <a:t> racial </a:t>
            </a:r>
            <a:r>
              <a:rPr lang="en-US" dirty="0" err="1"/>
              <a:t>basada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marcadores</a:t>
            </a:r>
            <a:r>
              <a:rPr lang="en-US" dirty="0"/>
              <a:t> </a:t>
            </a:r>
            <a:r>
              <a:rPr lang="en-US" dirty="0" err="1"/>
              <a:t>moleculares</a:t>
            </a:r>
            <a:r>
              <a:rPr lang="en-US" dirty="0"/>
              <a:t> (AFLP y SSR). La </a:t>
            </a:r>
            <a:r>
              <a:rPr lang="en-US" dirty="0" err="1"/>
              <a:t>raza</a:t>
            </a:r>
            <a:r>
              <a:rPr lang="en-US" dirty="0"/>
              <a:t> San </a:t>
            </a:r>
            <a:r>
              <a:rPr lang="en-US" dirty="0" err="1"/>
              <a:t>Gerónimo</a:t>
            </a:r>
            <a:r>
              <a:rPr lang="en-US" dirty="0"/>
              <a:t> </a:t>
            </a:r>
            <a:r>
              <a:rPr lang="en-US" dirty="0" err="1"/>
              <a:t>apareció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dendograma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grupo</a:t>
            </a:r>
            <a:r>
              <a:rPr lang="en-US" dirty="0"/>
              <a:t> que la </a:t>
            </a:r>
            <a:r>
              <a:rPr lang="en-US" dirty="0" err="1"/>
              <a:t>raza</a:t>
            </a:r>
            <a:r>
              <a:rPr lang="en-US" dirty="0"/>
              <a:t> </a:t>
            </a:r>
            <a:r>
              <a:rPr lang="en-US" dirty="0" err="1"/>
              <a:t>Pisccorunto</a:t>
            </a:r>
            <a:r>
              <a:rPr lang="en-US" dirty="0"/>
              <a:t>. Sin embargo, </a:t>
            </a:r>
            <a:r>
              <a:rPr lang="en-US" dirty="0" err="1"/>
              <a:t>agricultores</a:t>
            </a:r>
            <a:r>
              <a:rPr lang="en-US" dirty="0"/>
              <a:t> y </a:t>
            </a:r>
            <a:r>
              <a:rPr lang="en-US" dirty="0" err="1"/>
              <a:t>consumidores</a:t>
            </a:r>
            <a:r>
              <a:rPr lang="en-US" dirty="0"/>
              <a:t> las </a:t>
            </a:r>
            <a:r>
              <a:rPr lang="en-US" dirty="0" err="1"/>
              <a:t>consideran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usos</a:t>
            </a:r>
            <a:r>
              <a:rPr lang="en-US" dirty="0"/>
              <a:t> y </a:t>
            </a:r>
            <a:r>
              <a:rPr lang="en-US" dirty="0" err="1"/>
              <a:t>costumbres</a:t>
            </a:r>
            <a:r>
              <a:rPr lang="en-US" dirty="0"/>
              <a:t>. </a:t>
            </a:r>
          </a:p>
          <a:p>
            <a:r>
              <a:rPr lang="en-US" dirty="0"/>
              <a:t>Los sabers locales o </a:t>
            </a:r>
            <a:r>
              <a:rPr lang="en-US" dirty="0" err="1"/>
              <a:t>conocimientos</a:t>
            </a:r>
            <a:r>
              <a:rPr lang="en-US" dirty="0"/>
              <a:t> </a:t>
            </a:r>
            <a:r>
              <a:rPr lang="en-US" dirty="0" err="1"/>
              <a:t>tradicionales</a:t>
            </a:r>
            <a:r>
              <a:rPr lang="en-US" dirty="0"/>
              <a:t> son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importantes</a:t>
            </a:r>
            <a:r>
              <a:rPr lang="en-US" dirty="0"/>
              <a:t> para </a:t>
            </a:r>
            <a:r>
              <a:rPr lang="en-US" dirty="0" err="1"/>
              <a:t>diferenciar</a:t>
            </a:r>
            <a:r>
              <a:rPr lang="en-US" dirty="0"/>
              <a:t> las </a:t>
            </a:r>
            <a:r>
              <a:rPr lang="en-US" dirty="0" err="1"/>
              <a:t>razas</a:t>
            </a:r>
            <a:r>
              <a:rPr lang="en-US" dirty="0"/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2708551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VALOR ESPECÍFICO DE CADA CRITERIO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San </a:t>
            </a:r>
            <a:r>
              <a:rPr lang="en-US" dirty="0" err="1"/>
              <a:t>Gerónimo</a:t>
            </a:r>
            <a:r>
              <a:rPr lang="en-US" dirty="0"/>
              <a:t> y </a:t>
            </a:r>
            <a:r>
              <a:rPr lang="en-US" dirty="0" err="1"/>
              <a:t>Pisccorunto</a:t>
            </a:r>
            <a:r>
              <a:rPr lang="en-US" dirty="0"/>
              <a:t> son </a:t>
            </a:r>
            <a:r>
              <a:rPr lang="en-US" dirty="0" err="1"/>
              <a:t>razas</a:t>
            </a:r>
            <a:r>
              <a:rPr lang="en-US" dirty="0"/>
              <a:t> </a:t>
            </a:r>
            <a:r>
              <a:rPr lang="en-US" dirty="0" err="1"/>
              <a:t>distintas</a:t>
            </a:r>
            <a:r>
              <a:rPr lang="en-US" dirty="0"/>
              <a:t>?</a:t>
            </a:r>
          </a:p>
          <a:p>
            <a:r>
              <a:rPr lang="en-US" dirty="0"/>
              <a:t>Son </a:t>
            </a:r>
            <a:r>
              <a:rPr lang="en-US" dirty="0" err="1"/>
              <a:t>diferente</a:t>
            </a:r>
            <a:r>
              <a:rPr lang="en-US" dirty="0"/>
              <a:t> </a:t>
            </a:r>
            <a:r>
              <a:rPr lang="en-US" dirty="0" err="1"/>
              <a:t>raza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la </a:t>
            </a:r>
            <a:r>
              <a:rPr lang="en-US" dirty="0" err="1"/>
              <a:t>frecuencia</a:t>
            </a:r>
            <a:r>
              <a:rPr lang="en-US" dirty="0"/>
              <a:t> del </a:t>
            </a:r>
            <a:r>
              <a:rPr lang="en-US" dirty="0" err="1"/>
              <a:t>alelo</a:t>
            </a:r>
            <a:r>
              <a:rPr lang="en-US" dirty="0"/>
              <a:t> </a:t>
            </a:r>
            <a:r>
              <a:rPr lang="en-US" dirty="0" err="1"/>
              <a:t>Pr</a:t>
            </a:r>
            <a:r>
              <a:rPr lang="en-US" dirty="0"/>
              <a:t> (</a:t>
            </a:r>
            <a:r>
              <a:rPr lang="en-US" dirty="0" err="1"/>
              <a:t>aleurona</a:t>
            </a:r>
            <a:r>
              <a:rPr lang="en-US" dirty="0"/>
              <a:t> </a:t>
            </a:r>
            <a:r>
              <a:rPr lang="en-US" dirty="0" err="1"/>
              <a:t>morada</a:t>
            </a:r>
            <a:r>
              <a:rPr lang="en-US" dirty="0"/>
              <a:t>) </a:t>
            </a:r>
            <a:r>
              <a:rPr lang="en-US" dirty="0" err="1"/>
              <a:t>es</a:t>
            </a:r>
            <a:r>
              <a:rPr lang="en-US" dirty="0"/>
              <a:t> </a:t>
            </a:r>
            <a:r>
              <a:rPr lang="en-US" dirty="0" err="1"/>
              <a:t>alta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Pisccorunto</a:t>
            </a:r>
            <a:r>
              <a:rPr lang="en-US" dirty="0"/>
              <a:t> y </a:t>
            </a:r>
            <a:r>
              <a:rPr lang="en-US" dirty="0" err="1"/>
              <a:t>casi</a:t>
            </a:r>
            <a:r>
              <a:rPr lang="en-US" dirty="0"/>
              <a:t> 0 </a:t>
            </a:r>
            <a:r>
              <a:rPr lang="en-US" dirty="0" err="1"/>
              <a:t>en</a:t>
            </a:r>
            <a:r>
              <a:rPr lang="en-US" dirty="0"/>
              <a:t> San </a:t>
            </a:r>
            <a:r>
              <a:rPr lang="en-US" dirty="0" err="1"/>
              <a:t>Gerónimo</a:t>
            </a:r>
            <a:r>
              <a:rPr lang="en-US" dirty="0"/>
              <a:t>?</a:t>
            </a:r>
          </a:p>
          <a:p>
            <a:r>
              <a:rPr lang="en-US" dirty="0" err="1"/>
              <a:t>Porqué</a:t>
            </a:r>
            <a:r>
              <a:rPr lang="en-US" dirty="0"/>
              <a:t> </a:t>
            </a:r>
            <a:r>
              <a:rPr lang="en-US" dirty="0" err="1"/>
              <a:t>siendo</a:t>
            </a:r>
            <a:r>
              <a:rPr lang="en-US" dirty="0"/>
              <a:t> tan </a:t>
            </a:r>
            <a:r>
              <a:rPr lang="en-US" dirty="0" err="1"/>
              <a:t>iguales</a:t>
            </a:r>
            <a:r>
              <a:rPr lang="en-US" dirty="0"/>
              <a:t>, </a:t>
            </a:r>
            <a:r>
              <a:rPr lang="en-US" dirty="0" err="1"/>
              <a:t>una</a:t>
            </a:r>
            <a:r>
              <a:rPr lang="en-US" dirty="0"/>
              <a:t> se </a:t>
            </a:r>
            <a:r>
              <a:rPr lang="en-US" dirty="0" err="1"/>
              <a:t>usa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choclo</a:t>
            </a:r>
            <a:r>
              <a:rPr lang="en-US" dirty="0"/>
              <a:t> o mote y </a:t>
            </a:r>
            <a:r>
              <a:rPr lang="en-US" dirty="0" err="1"/>
              <a:t>Pisccorunto</a:t>
            </a:r>
            <a:r>
              <a:rPr lang="en-US" dirty="0"/>
              <a:t> </a:t>
            </a:r>
            <a:r>
              <a:rPr lang="en-US" dirty="0" err="1"/>
              <a:t>tiene</a:t>
            </a:r>
            <a:r>
              <a:rPr lang="en-US" dirty="0"/>
              <a:t> </a:t>
            </a:r>
            <a:r>
              <a:rPr lang="en-US" dirty="0" err="1"/>
              <a:t>fama</a:t>
            </a:r>
            <a:r>
              <a:rPr lang="en-US" dirty="0"/>
              <a:t> de </a:t>
            </a:r>
            <a:r>
              <a:rPr lang="en-US" dirty="0" err="1"/>
              <a:t>ser</a:t>
            </a:r>
            <a:r>
              <a:rPr lang="en-US" dirty="0"/>
              <a:t> </a:t>
            </a:r>
            <a:r>
              <a:rPr lang="en-US" dirty="0" err="1"/>
              <a:t>muy</a:t>
            </a:r>
            <a:r>
              <a:rPr lang="en-US" dirty="0"/>
              <a:t> </a:t>
            </a:r>
            <a:r>
              <a:rPr lang="en-US" dirty="0" err="1"/>
              <a:t>buena</a:t>
            </a:r>
            <a:r>
              <a:rPr lang="en-US" dirty="0"/>
              <a:t> </a:t>
            </a:r>
            <a:r>
              <a:rPr lang="en-US" dirty="0" err="1"/>
              <a:t>cancha</a:t>
            </a:r>
            <a:r>
              <a:rPr lang="en-US" dirty="0"/>
              <a:t>?</a:t>
            </a:r>
          </a:p>
          <a:p>
            <a:r>
              <a:rPr lang="en-US" dirty="0" err="1"/>
              <a:t>Entonces</a:t>
            </a:r>
            <a:r>
              <a:rPr lang="en-US" dirty="0"/>
              <a:t>, </a:t>
            </a:r>
            <a:r>
              <a:rPr lang="en-US" dirty="0" err="1"/>
              <a:t>algo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que la base </a:t>
            </a:r>
            <a:r>
              <a:rPr lang="en-US" dirty="0" err="1"/>
              <a:t>genética</a:t>
            </a:r>
            <a:r>
              <a:rPr lang="en-US" dirty="0"/>
              <a:t> y </a:t>
            </a:r>
            <a:r>
              <a:rPr lang="en-US" dirty="0" err="1"/>
              <a:t>algo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que la base de la </a:t>
            </a:r>
            <a:r>
              <a:rPr lang="en-US" dirty="0" err="1"/>
              <a:t>adaptación</a:t>
            </a:r>
            <a:r>
              <a:rPr lang="en-US" dirty="0"/>
              <a:t> hay que </a:t>
            </a:r>
            <a:r>
              <a:rPr lang="en-US" dirty="0" err="1"/>
              <a:t>conocer</a:t>
            </a:r>
            <a:r>
              <a:rPr lang="en-US" dirty="0"/>
              <a:t> para </a:t>
            </a:r>
            <a:r>
              <a:rPr lang="en-US" dirty="0" err="1"/>
              <a:t>clasificar</a:t>
            </a:r>
            <a:r>
              <a:rPr lang="en-US" dirty="0"/>
              <a:t> la </a:t>
            </a:r>
            <a:r>
              <a:rPr lang="en-US" dirty="0" err="1"/>
              <a:t>diversidad</a:t>
            </a:r>
            <a:r>
              <a:rPr lang="en-US" dirty="0"/>
              <a:t> de las </a:t>
            </a:r>
            <a:r>
              <a:rPr lang="en-US" dirty="0" err="1"/>
              <a:t>especies</a:t>
            </a:r>
            <a:r>
              <a:rPr lang="en-US" dirty="0"/>
              <a:t>. </a:t>
            </a:r>
          </a:p>
          <a:p>
            <a:r>
              <a:rPr lang="en-US" dirty="0" err="1"/>
              <a:t>Eso</a:t>
            </a:r>
            <a:r>
              <a:rPr lang="en-US" dirty="0"/>
              <a:t> que </a:t>
            </a:r>
            <a:r>
              <a:rPr lang="en-US" dirty="0" err="1"/>
              <a:t>falta</a:t>
            </a:r>
            <a:r>
              <a:rPr lang="en-US" dirty="0"/>
              <a:t> </a:t>
            </a:r>
            <a:r>
              <a:rPr lang="en-US" dirty="0" err="1"/>
              <a:t>conocer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profundidad</a:t>
            </a:r>
            <a:r>
              <a:rPr lang="en-US" dirty="0"/>
              <a:t> </a:t>
            </a:r>
            <a:r>
              <a:rPr lang="en-US" dirty="0" err="1"/>
              <a:t>es</a:t>
            </a:r>
            <a:r>
              <a:rPr lang="en-US" dirty="0"/>
              <a:t> el </a:t>
            </a:r>
            <a:r>
              <a:rPr lang="en-US" dirty="0" err="1"/>
              <a:t>componente</a:t>
            </a:r>
            <a:r>
              <a:rPr lang="en-US" dirty="0"/>
              <a:t> cultural.      </a:t>
            </a:r>
          </a:p>
        </p:txBody>
      </p:sp>
    </p:spTree>
    <p:extLst>
      <p:ext uri="{BB962C8B-B14F-4D97-AF65-F5344CB8AC3E}">
        <p14:creationId xmlns:p14="http://schemas.microsoft.com/office/powerpoint/2010/main" val="41905346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Nuevas</a:t>
            </a:r>
            <a:r>
              <a:rPr lang="en-US" dirty="0"/>
              <a:t> </a:t>
            </a:r>
            <a:r>
              <a:rPr lang="en-US" dirty="0" err="1"/>
              <a:t>razas</a:t>
            </a:r>
            <a:r>
              <a:rPr lang="en-US" dirty="0"/>
              <a:t>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LAMBAYEQUE</a:t>
            </a:r>
          </a:p>
          <a:p>
            <a:r>
              <a:rPr lang="en-US" dirty="0"/>
              <a:t>MOROCHO NORTEÑO</a:t>
            </a:r>
          </a:p>
          <a:p>
            <a:r>
              <a:rPr lang="en-US" dirty="0"/>
              <a:t>CHOCLEROS NORTEÑOS</a:t>
            </a:r>
          </a:p>
          <a:p>
            <a:r>
              <a:rPr lang="en-US" dirty="0"/>
              <a:t>BLANCOS CANCHEROS</a:t>
            </a:r>
          </a:p>
          <a:p>
            <a:r>
              <a:rPr lang="en-US" dirty="0"/>
              <a:t>CANCHEROS NORTEÑOS </a:t>
            </a:r>
          </a:p>
          <a:p>
            <a:r>
              <a:rPr lang="en-US" dirty="0"/>
              <a:t>GRANADA BLANCO</a:t>
            </a:r>
          </a:p>
        </p:txBody>
      </p:sp>
    </p:spTree>
    <p:extLst>
      <p:ext uri="{BB962C8B-B14F-4D97-AF65-F5344CB8AC3E}">
        <p14:creationId xmlns:p14="http://schemas.microsoft.com/office/powerpoint/2010/main" val="1814118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RAZAS NO INCLUIDAS EN LA SEGUNDA APROXIMACIÓN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Raza </a:t>
            </a:r>
            <a:r>
              <a:rPr lang="en-US" dirty="0" err="1"/>
              <a:t>incipientes</a:t>
            </a:r>
            <a:r>
              <a:rPr lang="en-US" dirty="0"/>
              <a:t>: </a:t>
            </a:r>
            <a:r>
              <a:rPr lang="en-US" dirty="0" err="1"/>
              <a:t>Jora</a:t>
            </a:r>
            <a:r>
              <a:rPr lang="en-US" dirty="0"/>
              <a:t>, </a:t>
            </a:r>
            <a:r>
              <a:rPr lang="en-US" dirty="0" err="1"/>
              <a:t>Morado</a:t>
            </a:r>
            <a:r>
              <a:rPr lang="en-US" dirty="0"/>
              <a:t> </a:t>
            </a:r>
            <a:r>
              <a:rPr lang="en-US" dirty="0" err="1"/>
              <a:t>Canteño</a:t>
            </a:r>
            <a:r>
              <a:rPr lang="en-US" dirty="0"/>
              <a:t>, </a:t>
            </a:r>
            <a:r>
              <a:rPr lang="en-US" dirty="0" err="1"/>
              <a:t>Sarco</a:t>
            </a:r>
            <a:endParaRPr lang="en-US" dirty="0"/>
          </a:p>
          <a:p>
            <a:r>
              <a:rPr lang="en-US" dirty="0" err="1"/>
              <a:t>Imperfectamente</a:t>
            </a:r>
            <a:r>
              <a:rPr lang="en-US" dirty="0"/>
              <a:t> </a:t>
            </a:r>
            <a:r>
              <a:rPr lang="en-US" dirty="0" err="1"/>
              <a:t>definidas</a:t>
            </a:r>
            <a:r>
              <a:rPr lang="en-US" dirty="0"/>
              <a:t>: </a:t>
            </a:r>
            <a:r>
              <a:rPr lang="en-US" dirty="0" err="1"/>
              <a:t>Ajaleado</a:t>
            </a:r>
            <a:r>
              <a:rPr lang="en-US" dirty="0"/>
              <a:t>, </a:t>
            </a:r>
            <a:r>
              <a:rPr lang="en-US" dirty="0" err="1"/>
              <a:t>Perlilla</a:t>
            </a:r>
            <a:r>
              <a:rPr lang="en-US" dirty="0"/>
              <a:t>, </a:t>
            </a:r>
            <a:r>
              <a:rPr lang="en-US" dirty="0" err="1"/>
              <a:t>Chancayano</a:t>
            </a:r>
            <a:r>
              <a:rPr lang="en-US" dirty="0"/>
              <a:t> Amarillo, Colorado</a:t>
            </a:r>
          </a:p>
          <a:p>
            <a:r>
              <a:rPr lang="en-US" dirty="0" err="1"/>
              <a:t>Poco</a:t>
            </a:r>
            <a:r>
              <a:rPr lang="en-US" dirty="0"/>
              <a:t> </a:t>
            </a:r>
            <a:r>
              <a:rPr lang="en-US" dirty="0" err="1"/>
              <a:t>frecuentes</a:t>
            </a:r>
            <a:r>
              <a:rPr lang="en-US" dirty="0"/>
              <a:t>: </a:t>
            </a:r>
            <a:r>
              <a:rPr lang="en-US" dirty="0" err="1"/>
              <a:t>Enano</a:t>
            </a:r>
            <a:r>
              <a:rPr lang="en-US" dirty="0"/>
              <a:t>, </a:t>
            </a:r>
            <a:r>
              <a:rPr lang="en-US" dirty="0" err="1"/>
              <a:t>Alemán</a:t>
            </a:r>
            <a:r>
              <a:rPr lang="en-US" dirty="0"/>
              <a:t>, </a:t>
            </a:r>
            <a:r>
              <a:rPr lang="en-US" dirty="0" err="1"/>
              <a:t>Chimlos</a:t>
            </a:r>
            <a:endParaRPr lang="en-US" dirty="0"/>
          </a:p>
          <a:p>
            <a:r>
              <a:rPr lang="en-US" dirty="0" err="1"/>
              <a:t>Malformaciones</a:t>
            </a:r>
            <a:r>
              <a:rPr lang="en-US" dirty="0"/>
              <a:t> de </a:t>
            </a:r>
            <a:r>
              <a:rPr lang="en-US" dirty="0" err="1"/>
              <a:t>mazorca</a:t>
            </a:r>
            <a:r>
              <a:rPr lang="en-US" dirty="0"/>
              <a:t>: </a:t>
            </a:r>
            <a:r>
              <a:rPr lang="en-US" dirty="0" err="1"/>
              <a:t>Rabo</a:t>
            </a:r>
            <a:r>
              <a:rPr lang="en-US" dirty="0"/>
              <a:t> de Zorro, Granada </a:t>
            </a:r>
          </a:p>
          <a:p>
            <a:r>
              <a:rPr lang="en-US" dirty="0" err="1"/>
              <a:t>Cambio</a:t>
            </a:r>
            <a:r>
              <a:rPr lang="en-US" dirty="0"/>
              <a:t> de </a:t>
            </a:r>
            <a:r>
              <a:rPr lang="en-US" dirty="0" err="1"/>
              <a:t>nombre</a:t>
            </a:r>
            <a:r>
              <a:rPr lang="en-US" dirty="0"/>
              <a:t>: </a:t>
            </a:r>
            <a:r>
              <a:rPr lang="en-US" dirty="0" err="1"/>
              <a:t>Huancavelicano</a:t>
            </a:r>
            <a:r>
              <a:rPr lang="en-US" dirty="0"/>
              <a:t>, </a:t>
            </a:r>
            <a:r>
              <a:rPr lang="en-US" dirty="0" err="1"/>
              <a:t>Sabanero</a:t>
            </a:r>
            <a:r>
              <a:rPr lang="en-US" dirty="0"/>
              <a:t>, Cuzco </a:t>
            </a:r>
            <a:r>
              <a:rPr lang="en-US" dirty="0" err="1"/>
              <a:t>Cristalino</a:t>
            </a:r>
            <a:r>
              <a:rPr lang="en-US" dirty="0"/>
              <a:t> Amarillo.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1014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1807</Words>
  <Application>Microsoft Office PowerPoint</Application>
  <PresentationFormat>Panorámica</PresentationFormat>
  <Paragraphs>114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Tahoma</vt:lpstr>
      <vt:lpstr>Times New Roman</vt:lpstr>
      <vt:lpstr>Tema de Office</vt:lpstr>
      <vt:lpstr>CRITERIOS MORFOLÓGICOS, ECOLÓGICOS Y CULTURALES PARA DEFINIR LAS RAZAS </vt:lpstr>
      <vt:lpstr>EL CONCEPTO RACIAL </vt:lpstr>
      <vt:lpstr>DIFRERENCIAS ENTRE POBLACIONES </vt:lpstr>
      <vt:lpstr>CARACTERES DIFERENCIALES DEBEN TENER ALTA HEREDABILIDAD</vt:lpstr>
      <vt:lpstr>Presentación de PowerPoint</vt:lpstr>
      <vt:lpstr>Presentación de PowerPoint</vt:lpstr>
      <vt:lpstr>CARACTERES MORFOLÓGICOS APROPIADOS PARA LA CLASIFICACIÓN</vt:lpstr>
      <vt:lpstr>CARACTERIZACIÓN MORFOLÓGICA</vt:lpstr>
      <vt:lpstr>MEZCLAS, CRUZAS Y SEGREGANTES</vt:lpstr>
      <vt:lpstr>Presentación de PowerPoint</vt:lpstr>
      <vt:lpstr>Presentación de PowerPoint</vt:lpstr>
      <vt:lpstr>POLIMORFISMO GENÉTICO</vt:lpstr>
      <vt:lpstr>FRECUENCIA DE GENES DEFINE DIFERENCIAS RACIALES  </vt:lpstr>
      <vt:lpstr>Presentación de PowerPoint</vt:lpstr>
      <vt:lpstr>EL CRITERIO ECOLÓGICO: EXPERIENCIAS PASADAS Y FUTURAS</vt:lpstr>
      <vt:lpstr>La Resistencia a patógenos</vt:lpstr>
      <vt:lpstr>EL EFECTO ECOLOGICO</vt:lpstr>
      <vt:lpstr>CONVERGENCIA</vt:lpstr>
      <vt:lpstr>LAS DIFERENCIAS CULTURALES </vt:lpstr>
      <vt:lpstr>VALOR ESPECÍFICO DE CADA CRITERIO</vt:lpstr>
      <vt:lpstr>Nuevas razas?</vt:lpstr>
      <vt:lpstr>RAZAS NO INCLUIDAS EN LA SEGUNDA APROXIMACIÓN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CRITERIOS MORFOLÓGICOS, ECOLÓGICOS Y CULTURALES PARA DEFINIR LAS RAZAS</dc:title>
  <dc:creator>user</dc:creator>
  <cp:lastModifiedBy>ricardo sevilla panizo</cp:lastModifiedBy>
  <cp:revision>44</cp:revision>
  <dcterms:created xsi:type="dcterms:W3CDTF">2016-02-21T14:25:12Z</dcterms:created>
  <dcterms:modified xsi:type="dcterms:W3CDTF">2022-10-08T22:29:39Z</dcterms:modified>
</cp:coreProperties>
</file>